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5" r:id="rId13"/>
    <p:sldId id="266" r:id="rId14"/>
    <p:sldId id="269" r:id="rId15"/>
    <p:sldId id="273" r:id="rId16"/>
    <p:sldId id="270" r:id="rId17"/>
    <p:sldId id="271" r:id="rId18"/>
    <p:sldId id="272" r:id="rId19"/>
    <p:sldId id="274" r:id="rId20"/>
    <p:sldId id="277" r:id="rId21"/>
    <p:sldId id="275"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4377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86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IN"/>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67221092-6D94-4398-AE92-E2C0D16E61AC}" type="datetimeFigureOut">
              <a:rPr lang="en-IN" smtClean="0"/>
              <a:t>10-10-2026</a:t>
            </a:fld>
            <a:endParaRPr lang="en-IN"/>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3999567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endParaRPr lang="en-IN"/>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67221092-6D94-4398-AE92-E2C0D16E61AC}" type="datetimeFigureOut">
              <a:rPr lang="en-IN" smtClean="0"/>
              <a:t>10-10-2026</a:t>
            </a:fld>
            <a:endParaRPr lang="en-IN"/>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12290378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IN"/>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34157A0D-4027-41E2-A9AE-7B4F866DC7D4}" type="slidenum">
              <a:rPr lang="en-IN" smtClean="0"/>
              <a:t>‹#›</a:t>
            </a:fld>
            <a:endParaRPr lang="en-IN"/>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538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62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67221092-6D94-4398-AE92-E2C0D16E61AC}" type="datetimeFigureOut">
              <a:rPr lang="en-IN" smtClean="0"/>
              <a:t>10-10-2026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34157A0D-4027-41E2-A9AE-7B4F866DC7D4}" type="slidenum">
              <a:rPr lang="en-IN" smtClean="0"/>
              <a:t>‹#›</a:t>
            </a:fld>
            <a:endParaRPr lang="en-IN"/>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138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316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05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endParaRPr lang="en-IN"/>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67221092-6D94-4398-AE92-E2C0D16E61AC}" type="datetimeFigureOut">
              <a:rPr lang="en-IN" smtClean="0"/>
              <a:t>10-10-2026</a:t>
            </a:fld>
            <a:endParaRPr lang="en-IN"/>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1918944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endParaRPr lang="en-IN"/>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67221092-6D94-4398-AE92-E2C0D16E61AC}" type="datetimeFigureOut">
              <a:rPr lang="en-IN" smtClean="0"/>
              <a:t>10-10-2026</a:t>
            </a:fld>
            <a:endParaRPr lang="en-IN"/>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3145134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endParaRPr lang="en-IN"/>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67221092-6D94-4398-AE92-E2C0D16E61AC}" type="datetimeFigureOut">
              <a:rPr lang="en-IN" smtClean="0"/>
              <a:t>10-10-2026</a:t>
            </a:fld>
            <a:endParaRPr lang="en-IN"/>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34157A0D-4027-41E2-A9AE-7B4F866DC7D4}" type="slidenum">
              <a:rPr lang="en-IN" smtClean="0"/>
              <a:t>‹#›</a:t>
            </a:fld>
            <a:endParaRPr lang="en-IN"/>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733440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endParaRPr lang="en-IN"/>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67221092-6D94-4398-AE92-E2C0D16E61AC}" type="datetimeFigureOut">
              <a:rPr lang="en-IN" smtClean="0"/>
              <a:t>10-10-2026</a:t>
            </a:fld>
            <a:endParaRPr lang="en-IN"/>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34157A0D-4027-41E2-A9AE-7B4F866DC7D4}"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99869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endParaRPr lang="en-IN"/>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67221092-6D94-4398-AE92-E2C0D16E61AC}" type="datetimeFigureOut">
              <a:rPr lang="en-IN" smtClean="0"/>
              <a:t>10-10-2026</a:t>
            </a:fld>
            <a:endParaRPr lang="en-IN"/>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34157A0D-4027-41E2-A9AE-7B4F866DC7D4}"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82454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endParaRPr lang="en-IN"/>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67221092-6D94-4398-AE92-E2C0D16E61AC}" type="datetimeFigureOut">
              <a:rPr lang="en-IN" smtClean="0"/>
              <a:t>10-10-2026</a:t>
            </a:fld>
            <a:endParaRPr lang="en-IN"/>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30189117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67221092-6D94-4398-AE92-E2C0D16E61AC}" type="datetimeFigureOut">
              <a:rPr lang="en-IN" smtClean="0"/>
              <a:t>10-10-2026</a:t>
            </a:fld>
            <a:endParaRPr lang="en-IN"/>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IN"/>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1664695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IN"/>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1701042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280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34157A0D-4027-41E2-A9AE-7B4F866DC7D4}" type="slidenum">
              <a:rPr lang="en-IN" smtClean="0"/>
              <a:t>‹#›</a:t>
            </a:fld>
            <a:endParaRPr lang="en-IN"/>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734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844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900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25877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92471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34157A0D-4027-41E2-A9AE-7B4F866DC7D4}" type="slidenum">
              <a:rPr lang="en-IN" smtClean="0"/>
              <a:t>‹#›</a:t>
            </a:fld>
            <a:endParaRPr lang="en-IN"/>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895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4244034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34157A0D-4027-41E2-A9AE-7B4F866DC7D4}" type="slidenum">
              <a:rPr lang="en-IN" smtClean="0"/>
              <a:t>‹#›</a:t>
            </a:fld>
            <a:endParaRPr lang="en-IN"/>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90409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34157A0D-4027-41E2-A9AE-7B4F866DC7D4}" type="slidenum">
              <a:rPr lang="en-IN" smtClean="0"/>
              <a:t>‹#›</a:t>
            </a:fld>
            <a:endParaRPr lang="en-IN"/>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13456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262C-68CF-E6F0-5662-1982AEA50B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705259-0DDC-B842-ED84-8632E2029A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B8307C-0E30-204A-EDFA-8EF62A3B06D0}"/>
              </a:ext>
            </a:extLst>
          </p:cNvPr>
          <p:cNvSpPr>
            <a:spLocks noGrp="1"/>
          </p:cNvSpPr>
          <p:nvPr>
            <p:ph type="dt" sz="half" idx="10"/>
          </p:nvPr>
        </p:nvSpPr>
        <p:spPr/>
        <p:txBody>
          <a:bodyPr/>
          <a:lstStyle/>
          <a:p>
            <a:fld id="{67221092-6D94-4398-AE92-E2C0D16E61AC}" type="datetimeFigureOut">
              <a:rPr lang="en-IN" smtClean="0"/>
              <a:t>10-10-2026</a:t>
            </a:fld>
            <a:endParaRPr lang="en-IN"/>
          </a:p>
        </p:txBody>
      </p:sp>
      <p:sp>
        <p:nvSpPr>
          <p:cNvPr id="5" name="Footer Placeholder 4">
            <a:extLst>
              <a:ext uri="{FF2B5EF4-FFF2-40B4-BE49-F238E27FC236}">
                <a16:creationId xmlns:a16="http://schemas.microsoft.com/office/drawing/2014/main" id="{C80A832F-BE50-D724-901C-F4ABD7CD58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9FB30B-12B3-8B5E-E91A-CC7CA6415F2E}"/>
              </a:ext>
            </a:extLst>
          </p:cNvPr>
          <p:cNvSpPr>
            <a:spLocks noGrp="1"/>
          </p:cNvSpPr>
          <p:nvPr>
            <p:ph type="sldNum" sz="quarter" idx="12"/>
          </p:nvPr>
        </p:nvSpPr>
        <p:spPr/>
        <p:txBody>
          <a:bodyPr/>
          <a:lstStyle/>
          <a:p>
            <a:fld id="{34157A0D-4027-41E2-A9AE-7B4F866DC7D4}" type="slidenum">
              <a:rPr lang="en-IN" smtClean="0"/>
              <a:t>‹#›</a:t>
            </a:fld>
            <a:endParaRPr lang="en-IN"/>
          </a:p>
        </p:txBody>
      </p:sp>
    </p:spTree>
    <p:extLst>
      <p:ext uri="{BB962C8B-B14F-4D97-AF65-F5344CB8AC3E}">
        <p14:creationId xmlns:p14="http://schemas.microsoft.com/office/powerpoint/2010/main" val="116222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IN"/>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67221092-6D94-4398-AE92-E2C0D16E61AC}" type="datetimeFigureOut">
              <a:rPr lang="en-IN" smtClean="0"/>
              <a:t>10-10-2026</a:t>
            </a:fld>
            <a:endParaRPr lang="en-IN"/>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34157A0D-4027-41E2-A9AE-7B4F866DC7D4}" type="slidenum">
              <a:rPr lang="en-IN" smtClean="0"/>
              <a:t>‹#›</a:t>
            </a:fld>
            <a:endParaRPr lang="en-IN"/>
          </a:p>
        </p:txBody>
      </p:sp>
    </p:spTree>
    <p:extLst>
      <p:ext uri="{BB962C8B-B14F-4D97-AF65-F5344CB8AC3E}">
        <p14:creationId xmlns:p14="http://schemas.microsoft.com/office/powerpoint/2010/main" val="3177134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32F6D-2520-8C28-0FB3-1A997717FB39}"/>
              </a:ext>
            </a:extLst>
          </p:cNvPr>
          <p:cNvSpPr>
            <a:spLocks noGrp="1"/>
          </p:cNvSpPr>
          <p:nvPr>
            <p:ph type="ctrTitle"/>
          </p:nvPr>
        </p:nvSpPr>
        <p:spPr/>
        <p:txBody>
          <a:bodyPr>
            <a:normAutofit fontScale="90000"/>
          </a:bodyPr>
          <a:lstStyle/>
          <a:p>
            <a:r>
              <a:rPr lang="en-IN" dirty="0"/>
              <a:t>Smart Event Planning &amp; Resource Management System</a:t>
            </a:r>
          </a:p>
        </p:txBody>
      </p:sp>
      <p:sp>
        <p:nvSpPr>
          <p:cNvPr id="3" name="Subtitle 2">
            <a:extLst>
              <a:ext uri="{FF2B5EF4-FFF2-40B4-BE49-F238E27FC236}">
                <a16:creationId xmlns:a16="http://schemas.microsoft.com/office/drawing/2014/main" id="{1CE611FF-D24C-AA47-AE06-5C2CC0DAEB5A}"/>
              </a:ext>
            </a:extLst>
          </p:cNvPr>
          <p:cNvSpPr>
            <a:spLocks noGrp="1"/>
          </p:cNvSpPr>
          <p:nvPr>
            <p:ph type="subTitle" idx="1"/>
          </p:nvPr>
        </p:nvSpPr>
        <p:spPr/>
        <p:txBody>
          <a:bodyPr/>
          <a:lstStyle/>
          <a:p>
            <a:r>
              <a:rPr lang="en-GB" dirty="0"/>
              <a:t>Introduction and Milestone 1</a:t>
            </a:r>
            <a:endParaRPr lang="en-IN" dirty="0"/>
          </a:p>
        </p:txBody>
      </p:sp>
    </p:spTree>
    <p:extLst>
      <p:ext uri="{BB962C8B-B14F-4D97-AF65-F5344CB8AC3E}">
        <p14:creationId xmlns:p14="http://schemas.microsoft.com/office/powerpoint/2010/main" val="1106895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2BC1D3-4EAA-2AC9-2C8D-49A0E7F4B282}"/>
              </a:ext>
            </a:extLst>
          </p:cNvPr>
          <p:cNvSpPr txBox="1"/>
          <p:nvPr/>
        </p:nvSpPr>
        <p:spPr>
          <a:xfrm>
            <a:off x="3048000" y="474345"/>
            <a:ext cx="6096000" cy="5909310"/>
          </a:xfrm>
          <a:prstGeom prst="rect">
            <a:avLst/>
          </a:prstGeom>
          <a:noFill/>
        </p:spPr>
        <p:txBody>
          <a:bodyPr wrap="square">
            <a:spAutoFit/>
          </a:bodyPr>
          <a:lstStyle/>
          <a:p>
            <a:pPr>
              <a:buNone/>
            </a:pPr>
            <a:r>
              <a:rPr lang="en-IN" b="1" dirty="0"/>
              <a:t>Introduction to the Topic: Event Planning &amp; Resource Management System</a:t>
            </a:r>
          </a:p>
          <a:p>
            <a:pPr>
              <a:buNone/>
            </a:pPr>
            <a:r>
              <a:rPr lang="en-IN" b="1" dirty="0" err="1"/>
              <a:t>EventSphere</a:t>
            </a:r>
            <a:r>
              <a:rPr lang="en-IN" dirty="0"/>
              <a:t> is a web-based </a:t>
            </a:r>
            <a:r>
              <a:rPr lang="en-IN" b="1" dirty="0"/>
              <a:t>Event Planning and Resource Management System</a:t>
            </a:r>
            <a:r>
              <a:rPr lang="en-IN" dirty="0"/>
              <a:t> designed to make event organization easier, more efficient, and centralized.</a:t>
            </a:r>
          </a:p>
          <a:p>
            <a:pPr>
              <a:buNone/>
            </a:pPr>
            <a:r>
              <a:rPr lang="en-IN" dirty="0"/>
              <a:t>Organizing an event involves many activities such as </a:t>
            </a:r>
            <a:r>
              <a:rPr lang="en-IN" b="1" dirty="0"/>
              <a:t>creating the event, booking venues, managing resources, registering attendees, coordinating vendors, tracking expenses, and monitoring the overall event</a:t>
            </a:r>
            <a:r>
              <a:rPr lang="en-IN" dirty="0"/>
              <a:t>. Traditionally, these activities may be handled using spreadsheets, emails, messaging applications, and separate tools, which can lead to scheduling conflicts, budget issues, communication problems, and difficulty tracking the event in real time. </a:t>
            </a:r>
          </a:p>
          <a:p>
            <a:pPr>
              <a:buNone/>
            </a:pPr>
            <a:r>
              <a:rPr lang="en-IN" dirty="0" err="1"/>
              <a:t>EventSphere</a:t>
            </a:r>
            <a:r>
              <a:rPr lang="en-IN" dirty="0"/>
              <a:t> brings these activities together into </a:t>
            </a:r>
            <a:r>
              <a:rPr lang="en-IN" b="1" dirty="0"/>
              <a:t>one unified platform</a:t>
            </a:r>
            <a:r>
              <a:rPr lang="en-IN" dirty="0"/>
              <a:t>. An organizer can create an event, specify its requirements, allocate venues and resources, manage vendors, register attendees, monitor the budget, and track the progress of the event through dashboards. </a:t>
            </a:r>
          </a:p>
        </p:txBody>
      </p:sp>
    </p:spTree>
    <p:extLst>
      <p:ext uri="{BB962C8B-B14F-4D97-AF65-F5344CB8AC3E}">
        <p14:creationId xmlns:p14="http://schemas.microsoft.com/office/powerpoint/2010/main" val="130398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EB9223-78DF-C680-5B7F-E1443D51C2DB}"/>
              </a:ext>
            </a:extLst>
          </p:cNvPr>
          <p:cNvSpPr txBox="1"/>
          <p:nvPr/>
        </p:nvSpPr>
        <p:spPr>
          <a:xfrm>
            <a:off x="3048000" y="474345"/>
            <a:ext cx="6096000" cy="5909310"/>
          </a:xfrm>
          <a:prstGeom prst="rect">
            <a:avLst/>
          </a:prstGeom>
          <a:noFill/>
        </p:spPr>
        <p:txBody>
          <a:bodyPr wrap="square">
            <a:spAutoFit/>
          </a:bodyPr>
          <a:lstStyle/>
          <a:p>
            <a:pPr>
              <a:buNone/>
            </a:pPr>
            <a:r>
              <a:rPr lang="en-IN" b="1" dirty="0"/>
              <a:t>What will we learn/build?</a:t>
            </a:r>
          </a:p>
          <a:p>
            <a:pPr>
              <a:buNone/>
            </a:pPr>
            <a:r>
              <a:rPr lang="en-IN" dirty="0"/>
              <a:t>During this project, we will work with concepts such as:</a:t>
            </a:r>
          </a:p>
          <a:p>
            <a:pPr marL="342900" lvl="0" indent="-342900">
              <a:buFont typeface="Arial" panose="020B0604020202020204" pitchFamily="34" charset="0"/>
              <a:buChar char="•"/>
            </a:pPr>
            <a:r>
              <a:rPr lang="en-IN" b="1" dirty="0"/>
              <a:t>Event Management</a:t>
            </a:r>
            <a:r>
              <a:rPr lang="en-IN" dirty="0"/>
              <a:t> – creating, updating, scheduling, and managing events. </a:t>
            </a:r>
          </a:p>
          <a:p>
            <a:pPr marL="342900" lvl="0" indent="-342900">
              <a:buFont typeface="Arial" panose="020B0604020202020204" pitchFamily="34" charset="0"/>
              <a:buChar char="•"/>
            </a:pPr>
            <a:r>
              <a:rPr lang="en-IN" b="1" dirty="0"/>
              <a:t>Resource Management</a:t>
            </a:r>
            <a:r>
              <a:rPr lang="en-IN" dirty="0"/>
              <a:t> – managing venues, equipment, staff, transportation, and other resources. </a:t>
            </a:r>
          </a:p>
          <a:p>
            <a:pPr marL="342900" lvl="0" indent="-342900">
              <a:buFont typeface="Arial" panose="020B0604020202020204" pitchFamily="34" charset="0"/>
              <a:buChar char="•"/>
            </a:pPr>
            <a:r>
              <a:rPr lang="en-IN" b="1" dirty="0"/>
              <a:t>Attendee Management</a:t>
            </a:r>
            <a:r>
              <a:rPr lang="en-IN" dirty="0"/>
              <a:t> – registration, digital tickets, QR-code check-in, and attendance tracking. </a:t>
            </a:r>
          </a:p>
          <a:p>
            <a:pPr marL="342900" lvl="0" indent="-342900">
              <a:buFont typeface="Arial" panose="020B0604020202020204" pitchFamily="34" charset="0"/>
              <a:buChar char="•"/>
            </a:pPr>
            <a:r>
              <a:rPr lang="en-IN" b="1" dirty="0"/>
              <a:t>Vendor Management</a:t>
            </a:r>
            <a:r>
              <a:rPr lang="en-IN" dirty="0"/>
              <a:t> – onboarding vendors, contracts, service assignments, and communication. </a:t>
            </a:r>
          </a:p>
          <a:p>
            <a:pPr marL="342900" lvl="0" indent="-342900">
              <a:buFont typeface="Arial" panose="020B0604020202020204" pitchFamily="34" charset="0"/>
              <a:buChar char="•"/>
            </a:pPr>
            <a:r>
              <a:rPr lang="en-IN" b="1" dirty="0"/>
              <a:t>Budget Management</a:t>
            </a:r>
            <a:r>
              <a:rPr lang="en-IN" dirty="0"/>
              <a:t> – tracking planned budgets, expenses, sponsorship revenue, and financial performance. </a:t>
            </a:r>
          </a:p>
          <a:p>
            <a:pPr marL="342900" lvl="0" indent="-342900">
              <a:buFont typeface="Arial" panose="020B0604020202020204" pitchFamily="34" charset="0"/>
              <a:buChar char="•"/>
            </a:pPr>
            <a:r>
              <a:rPr lang="en-IN" b="1" dirty="0"/>
              <a:t>REST APIs</a:t>
            </a:r>
            <a:r>
              <a:rPr lang="en-IN" dirty="0"/>
              <a:t> – allowing different parts of the application to communicate with each other. </a:t>
            </a:r>
          </a:p>
          <a:p>
            <a:pPr marL="342900" lvl="0" indent="-342900">
              <a:buFont typeface="Arial" panose="020B0604020202020204" pitchFamily="34" charset="0"/>
              <a:buChar char="•"/>
            </a:pPr>
            <a:r>
              <a:rPr lang="en-IN" b="1" dirty="0"/>
              <a:t>Workflow Automation</a:t>
            </a:r>
            <a:r>
              <a:rPr lang="en-IN" dirty="0"/>
              <a:t> – automating approvals, notifications, reminders, and alerts. </a:t>
            </a:r>
          </a:p>
          <a:p>
            <a:pPr marL="342900" lvl="0" indent="-342900">
              <a:buFont typeface="Arial" panose="020B0604020202020204" pitchFamily="34" charset="0"/>
              <a:buChar char="•"/>
            </a:pPr>
            <a:r>
              <a:rPr lang="en-IN" b="1" dirty="0"/>
              <a:t>Analytics</a:t>
            </a:r>
            <a:r>
              <a:rPr lang="en-IN" dirty="0"/>
              <a:t> – understanding attendance, resource usage, budget performance, and operational efficiency. </a:t>
            </a:r>
          </a:p>
        </p:txBody>
      </p:sp>
    </p:spTree>
    <p:extLst>
      <p:ext uri="{BB962C8B-B14F-4D97-AF65-F5344CB8AC3E}">
        <p14:creationId xmlns:p14="http://schemas.microsoft.com/office/powerpoint/2010/main" val="138265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F337B3-7103-EA93-DB80-8E45F71DDDE6}"/>
              </a:ext>
            </a:extLst>
          </p:cNvPr>
          <p:cNvPicPr>
            <a:picLocks noChangeAspect="1"/>
          </p:cNvPicPr>
          <p:nvPr/>
        </p:nvPicPr>
        <p:blipFill>
          <a:blip r:embed="rId2"/>
          <a:stretch>
            <a:fillRect/>
          </a:stretch>
        </p:blipFill>
        <p:spPr>
          <a:xfrm>
            <a:off x="1665514" y="555171"/>
            <a:ext cx="7453241" cy="4705898"/>
          </a:xfrm>
          <a:prstGeom prst="rect">
            <a:avLst/>
          </a:prstGeom>
        </p:spPr>
      </p:pic>
    </p:spTree>
    <p:extLst>
      <p:ext uri="{BB962C8B-B14F-4D97-AF65-F5344CB8AC3E}">
        <p14:creationId xmlns:p14="http://schemas.microsoft.com/office/powerpoint/2010/main" val="157448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E5D7C-1F19-E343-165A-9E7C0B487D0B}"/>
              </a:ext>
            </a:extLst>
          </p:cNvPr>
          <p:cNvSpPr txBox="1"/>
          <p:nvPr/>
        </p:nvSpPr>
        <p:spPr>
          <a:xfrm>
            <a:off x="3048000" y="2551837"/>
            <a:ext cx="6096000" cy="1754326"/>
          </a:xfrm>
          <a:prstGeom prst="rect">
            <a:avLst/>
          </a:prstGeom>
          <a:noFill/>
        </p:spPr>
        <p:txBody>
          <a:bodyPr wrap="square">
            <a:spAutoFit/>
          </a:bodyPr>
          <a:lstStyle/>
          <a:p>
            <a:pPr>
              <a:buNone/>
            </a:pPr>
            <a:r>
              <a:rPr lang="en-IN" b="1" dirty="0"/>
              <a:t>What happens when someone uses </a:t>
            </a:r>
            <a:r>
              <a:rPr lang="en-IN" b="1" dirty="0" err="1"/>
              <a:t>EventSphere</a:t>
            </a:r>
            <a:r>
              <a:rPr lang="en-IN" b="1" dirty="0"/>
              <a:t>?</a:t>
            </a:r>
          </a:p>
          <a:p>
            <a:pPr>
              <a:buNone/>
            </a:pPr>
            <a:r>
              <a:rPr lang="en-IN" dirty="0"/>
              <a:t>A simple flow would be:</a:t>
            </a:r>
          </a:p>
          <a:p>
            <a:pPr>
              <a:buNone/>
            </a:pPr>
            <a:r>
              <a:rPr lang="en-IN" b="1" dirty="0"/>
              <a:t>Organizer → Create Event → Select Venue → Allocate Resources → Add Vendors → Open Registration → Generate Tickets → Event Day → QR Check-in → Track Expenses → View Reports</a:t>
            </a:r>
            <a:endParaRPr lang="en-IN" dirty="0"/>
          </a:p>
        </p:txBody>
      </p:sp>
    </p:spTree>
    <p:extLst>
      <p:ext uri="{BB962C8B-B14F-4D97-AF65-F5344CB8AC3E}">
        <p14:creationId xmlns:p14="http://schemas.microsoft.com/office/powerpoint/2010/main" val="47406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7D5C74-AB17-E287-05B7-A2EC61F324B0}"/>
              </a:ext>
            </a:extLst>
          </p:cNvPr>
          <p:cNvPicPr>
            <a:picLocks noChangeAspect="1"/>
          </p:cNvPicPr>
          <p:nvPr/>
        </p:nvPicPr>
        <p:blipFill>
          <a:blip r:embed="rId2"/>
          <a:stretch>
            <a:fillRect/>
          </a:stretch>
        </p:blipFill>
        <p:spPr>
          <a:xfrm>
            <a:off x="1632857" y="1819192"/>
            <a:ext cx="7768488" cy="4298579"/>
          </a:xfrm>
          <a:prstGeom prst="rect">
            <a:avLst/>
          </a:prstGeom>
        </p:spPr>
      </p:pic>
    </p:spTree>
    <p:extLst>
      <p:ext uri="{BB962C8B-B14F-4D97-AF65-F5344CB8AC3E}">
        <p14:creationId xmlns:p14="http://schemas.microsoft.com/office/powerpoint/2010/main" val="39546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B3270C-24C4-A344-6038-DE4B9D4C3020}"/>
              </a:ext>
            </a:extLst>
          </p:cNvPr>
          <p:cNvPicPr>
            <a:picLocks noChangeAspect="1"/>
          </p:cNvPicPr>
          <p:nvPr/>
        </p:nvPicPr>
        <p:blipFill>
          <a:blip r:embed="rId2"/>
          <a:stretch>
            <a:fillRect/>
          </a:stretch>
        </p:blipFill>
        <p:spPr>
          <a:xfrm>
            <a:off x="1905001" y="827314"/>
            <a:ext cx="5934164" cy="3986057"/>
          </a:xfrm>
          <a:prstGeom prst="rect">
            <a:avLst/>
          </a:prstGeom>
        </p:spPr>
      </p:pic>
    </p:spTree>
    <p:extLst>
      <p:ext uri="{BB962C8B-B14F-4D97-AF65-F5344CB8AC3E}">
        <p14:creationId xmlns:p14="http://schemas.microsoft.com/office/powerpoint/2010/main" val="188009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ACAA7-3AAE-7118-5C8F-8B635EA92D30}"/>
              </a:ext>
            </a:extLst>
          </p:cNvPr>
          <p:cNvSpPr>
            <a:spLocks noGrp="1"/>
          </p:cNvSpPr>
          <p:nvPr>
            <p:ph type="title"/>
          </p:nvPr>
        </p:nvSpPr>
        <p:spPr/>
        <p:txBody>
          <a:bodyPr/>
          <a:lstStyle/>
          <a:p>
            <a:r>
              <a:rPr lang="en-GB" dirty="0"/>
              <a:t>Milestone 1</a:t>
            </a:r>
            <a:endParaRPr lang="en-IN" dirty="0"/>
          </a:p>
        </p:txBody>
      </p:sp>
      <p:sp>
        <p:nvSpPr>
          <p:cNvPr id="3" name="Content Placeholder 2">
            <a:extLst>
              <a:ext uri="{FF2B5EF4-FFF2-40B4-BE49-F238E27FC236}">
                <a16:creationId xmlns:a16="http://schemas.microsoft.com/office/drawing/2014/main" id="{7C9CCB58-2FEB-8459-8C95-C4DB9F5504F0}"/>
              </a:ext>
            </a:extLst>
          </p:cNvPr>
          <p:cNvSpPr>
            <a:spLocks noGrp="1"/>
          </p:cNvSpPr>
          <p:nvPr>
            <p:ph sz="quarter" idx="13"/>
          </p:nvPr>
        </p:nvSpPr>
        <p:spPr/>
        <p:txBody>
          <a:bodyPr>
            <a:normAutofit/>
          </a:bodyPr>
          <a:lstStyle/>
          <a:p>
            <a:r>
              <a:rPr lang="en-GB" sz="3200" dirty="0"/>
              <a:t>event creation, scheduling, database design, resource allocation, venue reservation, and scheduling validation.</a:t>
            </a:r>
            <a:endParaRPr lang="en-IN" sz="3200" dirty="0"/>
          </a:p>
        </p:txBody>
      </p:sp>
    </p:spTree>
    <p:extLst>
      <p:ext uri="{BB962C8B-B14F-4D97-AF65-F5344CB8AC3E}">
        <p14:creationId xmlns:p14="http://schemas.microsoft.com/office/powerpoint/2010/main" val="2992326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C69058-F33E-435C-D37B-A388CC85B4B7}"/>
              </a:ext>
            </a:extLst>
          </p:cNvPr>
          <p:cNvSpPr txBox="1"/>
          <p:nvPr/>
        </p:nvSpPr>
        <p:spPr>
          <a:xfrm>
            <a:off x="3047036" y="2139232"/>
            <a:ext cx="6094070" cy="2585323"/>
          </a:xfrm>
          <a:prstGeom prst="rect">
            <a:avLst/>
          </a:prstGeom>
          <a:noFill/>
        </p:spPr>
        <p:txBody>
          <a:bodyPr wrap="square">
            <a:spAutoFit/>
          </a:bodyPr>
          <a:lstStyle/>
          <a:p>
            <a:pPr>
              <a:buNone/>
            </a:pPr>
            <a:r>
              <a:rPr lang="en-IN" b="1" dirty="0"/>
              <a:t>Day 1 — Introduction + Event Management</a:t>
            </a:r>
          </a:p>
          <a:p>
            <a:pPr>
              <a:buNone/>
            </a:pPr>
            <a:r>
              <a:rPr lang="en-IN" b="1" dirty="0"/>
              <a:t>Topics to teach</a:t>
            </a:r>
            <a:endParaRPr lang="en-IN" dirty="0"/>
          </a:p>
          <a:p>
            <a:pPr marL="342900" lvl="0" indent="-342900">
              <a:buFont typeface="Arial" panose="020B0604020202020204" pitchFamily="34" charset="0"/>
              <a:buChar char="•"/>
            </a:pPr>
            <a:r>
              <a:rPr lang="en-IN" dirty="0"/>
              <a:t>Introduction to </a:t>
            </a:r>
            <a:r>
              <a:rPr lang="en-IN" dirty="0" err="1"/>
              <a:t>EventSphere</a:t>
            </a:r>
            <a:r>
              <a:rPr lang="en-IN" dirty="0"/>
              <a:t> </a:t>
            </a:r>
          </a:p>
          <a:p>
            <a:pPr marL="342900" lvl="0" indent="-342900">
              <a:buFont typeface="Arial" panose="020B0604020202020204" pitchFamily="34" charset="0"/>
              <a:buChar char="•"/>
            </a:pPr>
            <a:r>
              <a:rPr lang="en-IN" dirty="0"/>
              <a:t>Understanding the problem statement </a:t>
            </a:r>
          </a:p>
          <a:p>
            <a:pPr marL="342900" lvl="0" indent="-342900">
              <a:buFont typeface="Arial" panose="020B0604020202020204" pitchFamily="34" charset="0"/>
              <a:buChar char="•"/>
            </a:pPr>
            <a:r>
              <a:rPr lang="en-IN" dirty="0"/>
              <a:t>Project modules </a:t>
            </a:r>
          </a:p>
          <a:p>
            <a:pPr marL="342900" lvl="0" indent="-342900">
              <a:buFont typeface="Arial" panose="020B0604020202020204" pitchFamily="34" charset="0"/>
              <a:buChar char="•"/>
            </a:pPr>
            <a:r>
              <a:rPr lang="en-IN" dirty="0"/>
              <a:t>User roles </a:t>
            </a:r>
          </a:p>
          <a:p>
            <a:pPr marL="342900" lvl="0" indent="-342900">
              <a:buFont typeface="Arial" panose="020B0604020202020204" pitchFamily="34" charset="0"/>
              <a:buChar char="•"/>
            </a:pPr>
            <a:r>
              <a:rPr lang="en-IN" dirty="0"/>
              <a:t>Frontend vs Backend vs Database </a:t>
            </a:r>
          </a:p>
          <a:p>
            <a:pPr marL="342900" lvl="0" indent="-342900">
              <a:buFont typeface="Arial" panose="020B0604020202020204" pitchFamily="34" charset="0"/>
              <a:buChar char="•"/>
            </a:pPr>
            <a:r>
              <a:rPr lang="en-IN" dirty="0"/>
              <a:t>What is CRUD? </a:t>
            </a:r>
          </a:p>
          <a:p>
            <a:pPr marL="342900" lvl="0" indent="-342900">
              <a:buFont typeface="Arial" panose="020B0604020202020204" pitchFamily="34" charset="0"/>
              <a:buChar char="•"/>
            </a:pPr>
            <a:r>
              <a:rPr lang="en-IN" dirty="0"/>
              <a:t>Event creation and management</a:t>
            </a:r>
          </a:p>
        </p:txBody>
      </p:sp>
    </p:spTree>
    <p:extLst>
      <p:ext uri="{BB962C8B-B14F-4D97-AF65-F5344CB8AC3E}">
        <p14:creationId xmlns:p14="http://schemas.microsoft.com/office/powerpoint/2010/main" val="1093840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453271-6D65-A26E-E8A4-FAAB6023AE5D}"/>
              </a:ext>
            </a:extLst>
          </p:cNvPr>
          <p:cNvSpPr txBox="1"/>
          <p:nvPr/>
        </p:nvSpPr>
        <p:spPr>
          <a:xfrm>
            <a:off x="3047036" y="754237"/>
            <a:ext cx="6094070" cy="5355312"/>
          </a:xfrm>
          <a:prstGeom prst="rect">
            <a:avLst/>
          </a:prstGeom>
          <a:noFill/>
        </p:spPr>
        <p:txBody>
          <a:bodyPr wrap="square">
            <a:spAutoFit/>
          </a:bodyPr>
          <a:lstStyle/>
          <a:p>
            <a:pPr marL="342900" lvl="0" indent="-342900">
              <a:buFont typeface="Arial" panose="020B0604020202020204" pitchFamily="34" charset="0"/>
              <a:buChar char="•"/>
            </a:pPr>
            <a:r>
              <a:rPr lang="en-IN" dirty="0"/>
              <a:t>Introduction to </a:t>
            </a:r>
            <a:r>
              <a:rPr lang="en-IN" dirty="0" err="1"/>
              <a:t>EventSphere</a:t>
            </a:r>
            <a:r>
              <a:rPr lang="en-IN" dirty="0"/>
              <a:t>: A system to plan and manage events in one place.</a:t>
            </a:r>
          </a:p>
          <a:p>
            <a:pPr marL="342900" lvl="0" indent="-342900">
              <a:buFont typeface="Arial" panose="020B0604020202020204" pitchFamily="34" charset="0"/>
              <a:buChar char="•"/>
            </a:pPr>
            <a:r>
              <a:rPr lang="en-IN" dirty="0"/>
              <a:t>Problem Statement: Managing events manually can cause scheduling conflicts and difficulty tracking resources.</a:t>
            </a:r>
          </a:p>
          <a:p>
            <a:pPr marL="342900" lvl="0" indent="-342900">
              <a:buFont typeface="Arial" panose="020B0604020202020204" pitchFamily="34" charset="0"/>
              <a:buChar char="•"/>
            </a:pPr>
            <a:r>
              <a:rPr lang="en-IN" dirty="0"/>
              <a:t>Project Modules: Events, venues, resources, attendees, vendors, and budget.</a:t>
            </a:r>
          </a:p>
          <a:p>
            <a:pPr marL="342900" lvl="0" indent="-342900">
              <a:buFont typeface="Arial" panose="020B0604020202020204" pitchFamily="34" charset="0"/>
              <a:buChar char="•"/>
            </a:pPr>
            <a:r>
              <a:rPr lang="en-IN" b="1" dirty="0"/>
              <a:t>User Roles: Admin, Organizer, Vendor, and Attendee.</a:t>
            </a:r>
          </a:p>
          <a:p>
            <a:pPr marL="342900" lvl="0" indent="-342900">
              <a:buFont typeface="Arial" panose="020B0604020202020204" pitchFamily="34" charset="0"/>
              <a:buChar char="•"/>
            </a:pPr>
            <a:r>
              <a:rPr lang="en-IN" dirty="0"/>
              <a:t>Frontend vs Backend vs Database: Frontend is what users see, backend handles logic, and database stores information.</a:t>
            </a:r>
          </a:p>
          <a:p>
            <a:pPr marL="342900" lvl="0" indent="-342900">
              <a:buFont typeface="Arial" panose="020B0604020202020204" pitchFamily="34" charset="0"/>
              <a:buChar char="•"/>
            </a:pPr>
            <a:r>
              <a:rPr lang="en-IN" dirty="0"/>
              <a:t>What is CRUD?</a:t>
            </a:r>
          </a:p>
          <a:p>
            <a:pPr marL="342900" lvl="0" indent="-342900">
              <a:buFont typeface="Arial" panose="020B0604020202020204" pitchFamily="34" charset="0"/>
              <a:buChar char="•"/>
            </a:pPr>
            <a:r>
              <a:rPr lang="en-IN" dirty="0"/>
              <a:t>C – Create (add an event)</a:t>
            </a:r>
          </a:p>
          <a:p>
            <a:pPr marL="342900" lvl="0" indent="-342900">
              <a:buFont typeface="Arial" panose="020B0604020202020204" pitchFamily="34" charset="0"/>
              <a:buChar char="•"/>
            </a:pPr>
            <a:r>
              <a:rPr lang="en-IN" dirty="0"/>
              <a:t>R – Read (view events)</a:t>
            </a:r>
          </a:p>
          <a:p>
            <a:pPr marL="342900" lvl="0" indent="-342900">
              <a:buFont typeface="Arial" panose="020B0604020202020204" pitchFamily="34" charset="0"/>
              <a:buChar char="•"/>
            </a:pPr>
            <a:r>
              <a:rPr lang="en-IN" dirty="0"/>
              <a:t>U – Update (edit event details)</a:t>
            </a:r>
          </a:p>
          <a:p>
            <a:pPr marL="342900" lvl="0" indent="-342900">
              <a:buFont typeface="Arial" panose="020B0604020202020204" pitchFamily="34" charset="0"/>
              <a:buChar char="•"/>
            </a:pPr>
            <a:r>
              <a:rPr lang="en-IN" dirty="0"/>
              <a:t>D – Delete (remove an event)</a:t>
            </a:r>
          </a:p>
          <a:p>
            <a:pPr marL="342900" lvl="0" indent="-342900">
              <a:buFont typeface="Arial" panose="020B0604020202020204" pitchFamily="34" charset="0"/>
              <a:buChar char="•"/>
            </a:pPr>
            <a:r>
              <a:rPr lang="en-IN" dirty="0"/>
              <a:t>Practical Task: Build a basic event form with event name, type, date, and budget.</a:t>
            </a:r>
          </a:p>
        </p:txBody>
      </p:sp>
    </p:spTree>
    <p:extLst>
      <p:ext uri="{BB962C8B-B14F-4D97-AF65-F5344CB8AC3E}">
        <p14:creationId xmlns:p14="http://schemas.microsoft.com/office/powerpoint/2010/main" val="1892231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2B33C1-4F00-45F9-2A8E-DEC9E79F7DC9}"/>
              </a:ext>
            </a:extLst>
          </p:cNvPr>
          <p:cNvSpPr txBox="1"/>
          <p:nvPr/>
        </p:nvSpPr>
        <p:spPr>
          <a:xfrm>
            <a:off x="3047036" y="2693229"/>
            <a:ext cx="6094070" cy="1477328"/>
          </a:xfrm>
          <a:prstGeom prst="rect">
            <a:avLst/>
          </a:prstGeom>
          <a:noFill/>
        </p:spPr>
        <p:txBody>
          <a:bodyPr wrap="square">
            <a:spAutoFit/>
          </a:bodyPr>
          <a:lstStyle/>
          <a:p>
            <a:pPr marL="342900" lvl="0" indent="-342900">
              <a:buFont typeface="Arial" panose="020B0604020202020204" pitchFamily="34" charset="0"/>
              <a:buChar char="•"/>
            </a:pPr>
            <a:r>
              <a:rPr lang="en-IN" dirty="0"/>
              <a:t>Introduction: What is </a:t>
            </a:r>
            <a:r>
              <a:rPr lang="en-IN" dirty="0" err="1"/>
              <a:t>EventSphere</a:t>
            </a:r>
            <a:r>
              <a:rPr lang="en-IN" dirty="0"/>
              <a:t>?</a:t>
            </a:r>
          </a:p>
          <a:p>
            <a:pPr marL="342900" lvl="0" indent="-342900">
              <a:buFont typeface="Arial" panose="020B0604020202020204" pitchFamily="34" charset="0"/>
              <a:buChar char="•"/>
            </a:pPr>
            <a:r>
              <a:rPr lang="en-IN" dirty="0"/>
              <a:t>Learn: Basic event management and UI design.</a:t>
            </a:r>
          </a:p>
          <a:p>
            <a:pPr marL="342900" lvl="0" indent="-342900">
              <a:buFont typeface="Arial" panose="020B0604020202020204" pitchFamily="34" charset="0"/>
              <a:buChar char="•"/>
            </a:pPr>
            <a:r>
              <a:rPr lang="en-IN" dirty="0"/>
              <a:t>Practical Task: Create a simple event form.</a:t>
            </a:r>
          </a:p>
          <a:p>
            <a:pPr marL="342900" lvl="0" indent="-342900">
              <a:buFont typeface="Arial" panose="020B0604020202020204" pitchFamily="34" charset="0"/>
              <a:buChar char="•"/>
            </a:pPr>
            <a:r>
              <a:rPr lang="en-IN" dirty="0"/>
              <a:t>Fields: Event Name, Date, Type, and Budget.</a:t>
            </a:r>
          </a:p>
          <a:p>
            <a:pPr marL="342900" lvl="0" indent="-342900">
              <a:buFont typeface="Arial" panose="020B0604020202020204" pitchFamily="34" charset="0"/>
              <a:buChar char="•"/>
            </a:pPr>
            <a:r>
              <a:rPr lang="en-IN" dirty="0"/>
              <a:t>Outcome: Build a basic event management page.</a:t>
            </a:r>
          </a:p>
        </p:txBody>
      </p:sp>
    </p:spTree>
    <p:extLst>
      <p:ext uri="{BB962C8B-B14F-4D97-AF65-F5344CB8AC3E}">
        <p14:creationId xmlns:p14="http://schemas.microsoft.com/office/powerpoint/2010/main" val="1279212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08470C-DDF7-A494-09B7-9079CF747FB5}"/>
              </a:ext>
            </a:extLst>
          </p:cNvPr>
          <p:cNvSpPr txBox="1"/>
          <p:nvPr/>
        </p:nvSpPr>
        <p:spPr>
          <a:xfrm>
            <a:off x="3047036" y="2277731"/>
            <a:ext cx="6094070" cy="2308324"/>
          </a:xfrm>
          <a:prstGeom prst="rect">
            <a:avLst/>
          </a:prstGeom>
          <a:noFill/>
        </p:spPr>
        <p:txBody>
          <a:bodyPr wrap="square">
            <a:spAutoFit/>
          </a:bodyPr>
          <a:lstStyle/>
          <a:p>
            <a:pPr>
              <a:buNone/>
            </a:pPr>
            <a:r>
              <a:rPr lang="en-IN" b="1" dirty="0"/>
              <a:t>Intern Task 1 — Create Event Module</a:t>
            </a:r>
            <a:endParaRPr lang="en-IN" dirty="0"/>
          </a:p>
          <a:p>
            <a:pPr>
              <a:buNone/>
            </a:pPr>
            <a:r>
              <a:rPr lang="en-IN" dirty="0"/>
              <a:t>Build an Event Management module where an organizer can:</a:t>
            </a:r>
          </a:p>
          <a:p>
            <a:pPr marL="342900" lvl="0" indent="-342900">
              <a:buFont typeface="Arial" panose="020B0604020202020204" pitchFamily="34" charset="0"/>
              <a:buChar char="•"/>
            </a:pPr>
            <a:r>
              <a:rPr lang="en-IN" dirty="0"/>
              <a:t>Create an event </a:t>
            </a:r>
          </a:p>
          <a:p>
            <a:pPr marL="342900" lvl="0" indent="-342900">
              <a:buFont typeface="Arial" panose="020B0604020202020204" pitchFamily="34" charset="0"/>
              <a:buChar char="•"/>
            </a:pPr>
            <a:r>
              <a:rPr lang="en-IN" dirty="0"/>
              <a:t>View all events </a:t>
            </a:r>
          </a:p>
          <a:p>
            <a:pPr marL="342900" lvl="0" indent="-342900">
              <a:buFont typeface="Arial" panose="020B0604020202020204" pitchFamily="34" charset="0"/>
              <a:buChar char="•"/>
            </a:pPr>
            <a:r>
              <a:rPr lang="en-IN" dirty="0"/>
              <a:t>View event details </a:t>
            </a:r>
          </a:p>
          <a:p>
            <a:pPr marL="342900" lvl="0" indent="-342900">
              <a:buFont typeface="Arial" panose="020B0604020202020204" pitchFamily="34" charset="0"/>
              <a:buChar char="•"/>
            </a:pPr>
            <a:r>
              <a:rPr lang="en-IN" dirty="0"/>
              <a:t>Edit an event </a:t>
            </a:r>
          </a:p>
          <a:p>
            <a:pPr marL="342900" lvl="0" indent="-342900">
              <a:buFont typeface="Arial" panose="020B0604020202020204" pitchFamily="34" charset="0"/>
              <a:buChar char="•"/>
            </a:pPr>
            <a:r>
              <a:rPr lang="en-IN" dirty="0"/>
              <a:t>Delete an event</a:t>
            </a:r>
          </a:p>
        </p:txBody>
      </p:sp>
    </p:spTree>
    <p:extLst>
      <p:ext uri="{BB962C8B-B14F-4D97-AF65-F5344CB8AC3E}">
        <p14:creationId xmlns:p14="http://schemas.microsoft.com/office/powerpoint/2010/main" val="212592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0C2153-4012-4BE7-7026-5F87966E2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106470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999FAA-9A53-22FD-2E83-B221C97FB6DF}"/>
              </a:ext>
            </a:extLst>
          </p:cNvPr>
          <p:cNvSpPr txBox="1"/>
          <p:nvPr/>
        </p:nvSpPr>
        <p:spPr>
          <a:xfrm>
            <a:off x="3047036" y="1862233"/>
            <a:ext cx="6094070" cy="3139321"/>
          </a:xfrm>
          <a:prstGeom prst="rect">
            <a:avLst/>
          </a:prstGeom>
          <a:noFill/>
        </p:spPr>
        <p:txBody>
          <a:bodyPr wrap="square">
            <a:spAutoFit/>
          </a:bodyPr>
          <a:lstStyle/>
          <a:p>
            <a:pPr>
              <a:buNone/>
            </a:pPr>
            <a:r>
              <a:rPr lang="en-IN" b="1" dirty="0"/>
              <a:t>Day 2 — Database + Venue Management</a:t>
            </a:r>
          </a:p>
          <a:p>
            <a:pPr>
              <a:buNone/>
            </a:pPr>
            <a:r>
              <a:rPr lang="en-IN" b="1" dirty="0"/>
              <a:t>Topics to teach</a:t>
            </a:r>
          </a:p>
          <a:p>
            <a:pPr marL="342900" lvl="0" indent="-342900">
              <a:buFont typeface="Arial" panose="020B0604020202020204" pitchFamily="34" charset="0"/>
              <a:buChar char="•"/>
            </a:pPr>
            <a:r>
              <a:rPr lang="en-IN" dirty="0"/>
              <a:t>What is a database? </a:t>
            </a:r>
          </a:p>
          <a:p>
            <a:pPr marL="342900" lvl="0" indent="-342900">
              <a:buFont typeface="Arial" panose="020B0604020202020204" pitchFamily="34" charset="0"/>
              <a:buChar char="•"/>
            </a:pPr>
            <a:r>
              <a:rPr lang="en-IN" dirty="0"/>
              <a:t>Tables and relationships </a:t>
            </a:r>
          </a:p>
          <a:p>
            <a:pPr marL="342900" lvl="0" indent="-342900">
              <a:buFont typeface="Arial" panose="020B0604020202020204" pitchFamily="34" charset="0"/>
              <a:buChar char="•"/>
            </a:pPr>
            <a:r>
              <a:rPr lang="en-IN" dirty="0"/>
              <a:t>Primary key </a:t>
            </a:r>
          </a:p>
          <a:p>
            <a:pPr marL="342900" lvl="0" indent="-342900">
              <a:buFont typeface="Arial" panose="020B0604020202020204" pitchFamily="34" charset="0"/>
              <a:buChar char="•"/>
            </a:pPr>
            <a:r>
              <a:rPr lang="en-IN" dirty="0"/>
              <a:t>Foreign key </a:t>
            </a:r>
          </a:p>
          <a:p>
            <a:pPr marL="342900" lvl="0" indent="-342900">
              <a:buFont typeface="Arial" panose="020B0604020202020204" pitchFamily="34" charset="0"/>
              <a:buChar char="•"/>
            </a:pPr>
            <a:r>
              <a:rPr lang="en-IN" dirty="0"/>
              <a:t>SQL basics </a:t>
            </a:r>
          </a:p>
          <a:p>
            <a:pPr marL="342900" lvl="0" indent="-342900">
              <a:buFont typeface="Arial" panose="020B0604020202020204" pitchFamily="34" charset="0"/>
              <a:buChar char="•"/>
            </a:pPr>
            <a:r>
              <a:rPr lang="en-IN" dirty="0"/>
              <a:t>Connecting application with database </a:t>
            </a:r>
          </a:p>
          <a:p>
            <a:pPr marL="342900" lvl="0" indent="-342900">
              <a:buFont typeface="Arial" panose="020B0604020202020204" pitchFamily="34" charset="0"/>
              <a:buChar char="•"/>
            </a:pPr>
            <a:r>
              <a:rPr lang="en-IN" dirty="0"/>
              <a:t>Venue management </a:t>
            </a:r>
          </a:p>
          <a:p>
            <a:pPr>
              <a:buNone/>
            </a:pPr>
            <a:r>
              <a:rPr lang="en-IN" dirty="0"/>
              <a:t>The project requires a centralized repository for venues and resources.</a:t>
            </a:r>
          </a:p>
        </p:txBody>
      </p:sp>
    </p:spTree>
    <p:extLst>
      <p:ext uri="{BB962C8B-B14F-4D97-AF65-F5344CB8AC3E}">
        <p14:creationId xmlns:p14="http://schemas.microsoft.com/office/powerpoint/2010/main" val="259363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23717E-7A04-E85B-C3AD-5981A9A1E293}"/>
              </a:ext>
            </a:extLst>
          </p:cNvPr>
          <p:cNvSpPr txBox="1"/>
          <p:nvPr/>
        </p:nvSpPr>
        <p:spPr>
          <a:xfrm>
            <a:off x="3047036" y="2139232"/>
            <a:ext cx="6094070" cy="2585323"/>
          </a:xfrm>
          <a:prstGeom prst="rect">
            <a:avLst/>
          </a:prstGeom>
          <a:noFill/>
        </p:spPr>
        <p:txBody>
          <a:bodyPr wrap="square">
            <a:spAutoFit/>
          </a:bodyPr>
          <a:lstStyle/>
          <a:p>
            <a:pPr>
              <a:buNone/>
            </a:pPr>
            <a:r>
              <a:rPr lang="en-IN" b="1" dirty="0"/>
              <a:t>Database &amp; Venue Management</a:t>
            </a:r>
          </a:p>
          <a:p>
            <a:pPr marL="342900" lvl="0" indent="-342900">
              <a:buFont typeface="Arial" panose="020B0604020202020204" pitchFamily="34" charset="0"/>
              <a:buChar char="•"/>
            </a:pPr>
            <a:r>
              <a:rPr lang="en-IN" dirty="0"/>
              <a:t>Topics: Database basics, tables, relationships, and venue management.</a:t>
            </a:r>
          </a:p>
          <a:p>
            <a:pPr marL="342900" lvl="0" indent="-342900">
              <a:buFont typeface="Arial" panose="020B0604020202020204" pitchFamily="34" charset="0"/>
              <a:buChar char="•"/>
            </a:pPr>
            <a:r>
              <a:rPr lang="en-IN" dirty="0"/>
              <a:t>Learn: How to store event and venue details.</a:t>
            </a:r>
          </a:p>
          <a:p>
            <a:pPr marL="342900" lvl="0" indent="-342900">
              <a:buFont typeface="Arial" panose="020B0604020202020204" pitchFamily="34" charset="0"/>
              <a:buChar char="•"/>
            </a:pPr>
            <a:r>
              <a:rPr lang="en-IN" dirty="0"/>
              <a:t>Practical Task: Create database tables for Events and Venues.</a:t>
            </a:r>
          </a:p>
          <a:p>
            <a:pPr marL="342900" lvl="0" indent="-342900">
              <a:buFont typeface="Arial" panose="020B0604020202020204" pitchFamily="34" charset="0"/>
              <a:buChar char="•"/>
            </a:pPr>
            <a:r>
              <a:rPr lang="en-IN" dirty="0"/>
              <a:t>Features: Add, view, edit, and delete venues.</a:t>
            </a:r>
          </a:p>
          <a:p>
            <a:pPr marL="342900" lvl="0" indent="-342900">
              <a:buFont typeface="Arial" panose="020B0604020202020204" pitchFamily="34" charset="0"/>
              <a:buChar char="•"/>
            </a:pPr>
            <a:r>
              <a:rPr lang="en-IN" dirty="0"/>
              <a:t>Outcome: Connect events with venues and store data in the database.</a:t>
            </a:r>
          </a:p>
        </p:txBody>
      </p:sp>
    </p:spTree>
    <p:extLst>
      <p:ext uri="{BB962C8B-B14F-4D97-AF65-F5344CB8AC3E}">
        <p14:creationId xmlns:p14="http://schemas.microsoft.com/office/powerpoint/2010/main" val="354715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5EAF77-7457-5F1B-F1D4-392F63BC99CC}"/>
              </a:ext>
            </a:extLst>
          </p:cNvPr>
          <p:cNvSpPr txBox="1"/>
          <p:nvPr/>
        </p:nvSpPr>
        <p:spPr>
          <a:xfrm>
            <a:off x="3047036" y="1169736"/>
            <a:ext cx="6094070" cy="4524315"/>
          </a:xfrm>
          <a:prstGeom prst="rect">
            <a:avLst/>
          </a:prstGeom>
          <a:noFill/>
        </p:spPr>
        <p:txBody>
          <a:bodyPr wrap="square">
            <a:spAutoFit/>
          </a:bodyPr>
          <a:lstStyle/>
          <a:p>
            <a:pPr>
              <a:buNone/>
            </a:pPr>
            <a:r>
              <a:rPr lang="en-IN" b="1" dirty="0"/>
              <a:t>Intern Task 2 — Venue Management</a:t>
            </a:r>
          </a:p>
          <a:p>
            <a:pPr>
              <a:buNone/>
            </a:pPr>
            <a:r>
              <a:rPr lang="en-IN" dirty="0"/>
              <a:t>Create a </a:t>
            </a:r>
            <a:r>
              <a:rPr lang="en-IN" b="1" dirty="0"/>
              <a:t>Venue Management</a:t>
            </a:r>
            <a:r>
              <a:rPr lang="en-IN" dirty="0"/>
              <a:t> module.</a:t>
            </a:r>
          </a:p>
          <a:p>
            <a:pPr>
              <a:buNone/>
            </a:pPr>
            <a:r>
              <a:rPr lang="en-IN" dirty="0"/>
              <a:t>Each venue should contain:</a:t>
            </a:r>
          </a:p>
          <a:p>
            <a:pPr rtl="0">
              <a:buNone/>
            </a:pPr>
            <a:r>
              <a:rPr lang="en-IN" dirty="0">
                <a:latin typeface="Courier New" panose="02070309020205020404" pitchFamily="49" charset="0"/>
              </a:rPr>
              <a:t>Venue ID</a:t>
            </a:r>
          </a:p>
          <a:p>
            <a:pPr rtl="0">
              <a:buNone/>
            </a:pPr>
            <a:r>
              <a:rPr lang="en-IN" dirty="0">
                <a:latin typeface="Courier New" panose="02070309020205020404" pitchFamily="49" charset="0"/>
              </a:rPr>
              <a:t>Venue Name</a:t>
            </a:r>
          </a:p>
          <a:p>
            <a:pPr rtl="0">
              <a:buNone/>
            </a:pPr>
            <a:r>
              <a:rPr lang="en-IN" dirty="0">
                <a:latin typeface="Courier New" panose="02070309020205020404" pitchFamily="49" charset="0"/>
              </a:rPr>
              <a:t>Location</a:t>
            </a:r>
          </a:p>
          <a:p>
            <a:pPr rtl="0">
              <a:buNone/>
            </a:pPr>
            <a:r>
              <a:rPr lang="en-IN" dirty="0">
                <a:latin typeface="Courier New" panose="02070309020205020404" pitchFamily="49" charset="0"/>
              </a:rPr>
              <a:t>Capacity</a:t>
            </a:r>
          </a:p>
          <a:p>
            <a:pPr rtl="0">
              <a:buNone/>
            </a:pPr>
            <a:r>
              <a:rPr lang="en-IN" dirty="0">
                <a:latin typeface="Courier New" panose="02070309020205020404" pitchFamily="49" charset="0"/>
              </a:rPr>
              <a:t>Availability</a:t>
            </a:r>
          </a:p>
          <a:p>
            <a:pPr rtl="0">
              <a:buNone/>
            </a:pPr>
            <a:r>
              <a:rPr lang="en-IN" dirty="0">
                <a:latin typeface="Courier New" panose="02070309020205020404" pitchFamily="49" charset="0"/>
              </a:rPr>
              <a:t>Cost Per Day</a:t>
            </a:r>
          </a:p>
          <a:p>
            <a:pPr>
              <a:buNone/>
            </a:pPr>
            <a:r>
              <a:rPr lang="en-IN" dirty="0"/>
              <a:t>Example:</a:t>
            </a:r>
          </a:p>
          <a:p>
            <a:pPr rtl="0">
              <a:buNone/>
            </a:pPr>
            <a:r>
              <a:rPr lang="en-IN" dirty="0">
                <a:latin typeface="Courier New" panose="02070309020205020404" pitchFamily="49" charset="0"/>
              </a:rPr>
              <a:t>V001 | Main Auditorium | Chennai | 1500 | Available | ₹75,000</a:t>
            </a:r>
          </a:p>
          <a:p>
            <a:pPr rtl="0">
              <a:buNone/>
            </a:pPr>
            <a:r>
              <a:rPr lang="en-IN" dirty="0">
                <a:latin typeface="Courier New" panose="02070309020205020404" pitchFamily="49" charset="0"/>
              </a:rPr>
              <a:t>V002 | Seminar Hall A  | Chennai | 200  | Available | ₹20,000</a:t>
            </a:r>
          </a:p>
          <a:p>
            <a:pPr rtl="0">
              <a:buNone/>
            </a:pPr>
            <a:r>
              <a:rPr lang="en-IN" dirty="0">
                <a:latin typeface="Courier New" panose="02070309020205020404" pitchFamily="49" charset="0"/>
              </a:rPr>
              <a:t>V003 | Convention Hall | Chennai | 800  | Booked    | ₹60,000</a:t>
            </a:r>
          </a:p>
        </p:txBody>
      </p:sp>
    </p:spTree>
    <p:extLst>
      <p:ext uri="{BB962C8B-B14F-4D97-AF65-F5344CB8AC3E}">
        <p14:creationId xmlns:p14="http://schemas.microsoft.com/office/powerpoint/2010/main" val="2184624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CC3359-E7A6-6157-0964-245948334D41}"/>
              </a:ext>
            </a:extLst>
          </p:cNvPr>
          <p:cNvSpPr txBox="1"/>
          <p:nvPr/>
        </p:nvSpPr>
        <p:spPr>
          <a:xfrm>
            <a:off x="3047036" y="2000732"/>
            <a:ext cx="6094070" cy="2862322"/>
          </a:xfrm>
          <a:prstGeom prst="rect">
            <a:avLst/>
          </a:prstGeom>
          <a:noFill/>
        </p:spPr>
        <p:txBody>
          <a:bodyPr wrap="square">
            <a:spAutoFit/>
          </a:bodyPr>
          <a:lstStyle/>
          <a:p>
            <a:pPr>
              <a:buNone/>
            </a:pPr>
            <a:r>
              <a:rPr lang="en-IN" b="1" dirty="0"/>
              <a:t>Additional task</a:t>
            </a:r>
          </a:p>
          <a:p>
            <a:pPr>
              <a:buNone/>
            </a:pPr>
            <a:r>
              <a:rPr lang="en-IN" dirty="0"/>
              <a:t>When creating an event, allow the organizer to </a:t>
            </a:r>
            <a:r>
              <a:rPr lang="en-IN" b="1" dirty="0"/>
              <a:t>select a venue</a:t>
            </a:r>
            <a:r>
              <a:rPr lang="en-IN" dirty="0"/>
              <a:t>.</a:t>
            </a:r>
          </a:p>
          <a:p>
            <a:pPr>
              <a:buNone/>
            </a:pPr>
            <a:r>
              <a:rPr lang="en-IN" dirty="0"/>
              <a:t>The system should check:</a:t>
            </a:r>
          </a:p>
          <a:p>
            <a:pPr rtl="0">
              <a:buNone/>
            </a:pPr>
            <a:r>
              <a:rPr lang="en-IN" dirty="0">
                <a:latin typeface="+mn-lt"/>
              </a:rPr>
              <a:t>Expected Attendees &lt;= Venue Capacity</a:t>
            </a:r>
          </a:p>
          <a:p>
            <a:pPr>
              <a:buNone/>
            </a:pPr>
            <a:r>
              <a:rPr lang="en-IN" dirty="0"/>
              <a:t>If not:</a:t>
            </a:r>
          </a:p>
          <a:p>
            <a:pPr>
              <a:buNone/>
            </a:pPr>
            <a:r>
              <a:rPr lang="en-IN" dirty="0"/>
              <a:t>❌ "Selected venue does not have sufficient capacity."</a:t>
            </a:r>
          </a:p>
          <a:p>
            <a:pPr>
              <a:buNone/>
            </a:pPr>
            <a:r>
              <a:rPr lang="en-IN" b="1" dirty="0"/>
              <a:t>Day 2 Submission:</a:t>
            </a:r>
            <a:br>
              <a:rPr lang="en-IN" dirty="0"/>
            </a:br>
            <a:r>
              <a:rPr lang="en-IN" dirty="0"/>
              <a:t>Database schema + Venue CRUD + Event-Venue connection.</a:t>
            </a:r>
          </a:p>
        </p:txBody>
      </p:sp>
    </p:spTree>
    <p:extLst>
      <p:ext uri="{BB962C8B-B14F-4D97-AF65-F5344CB8AC3E}">
        <p14:creationId xmlns:p14="http://schemas.microsoft.com/office/powerpoint/2010/main" val="3467333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03D016-FCA1-70ED-DAB9-C1543D610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529254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5FD969-3634-7EA5-F20A-61B033314205}"/>
              </a:ext>
            </a:extLst>
          </p:cNvPr>
          <p:cNvSpPr txBox="1"/>
          <p:nvPr/>
        </p:nvSpPr>
        <p:spPr>
          <a:xfrm>
            <a:off x="3047036" y="1585234"/>
            <a:ext cx="6094070" cy="3693319"/>
          </a:xfrm>
          <a:prstGeom prst="rect">
            <a:avLst/>
          </a:prstGeom>
          <a:noFill/>
        </p:spPr>
        <p:txBody>
          <a:bodyPr wrap="square">
            <a:spAutoFit/>
          </a:bodyPr>
          <a:lstStyle/>
          <a:p>
            <a:pPr>
              <a:buNone/>
            </a:pPr>
            <a:r>
              <a:rPr lang="en-IN" b="1" dirty="0"/>
              <a:t>Day 3 — Resource Management</a:t>
            </a:r>
          </a:p>
          <a:p>
            <a:pPr>
              <a:buNone/>
            </a:pPr>
            <a:r>
              <a:rPr lang="en-IN" b="1" dirty="0"/>
              <a:t>Topics to teach</a:t>
            </a:r>
          </a:p>
          <a:p>
            <a:pPr>
              <a:buNone/>
            </a:pPr>
            <a:r>
              <a:rPr lang="en-IN" dirty="0"/>
              <a:t>Explain what </a:t>
            </a:r>
            <a:r>
              <a:rPr lang="en-IN" b="1" dirty="0"/>
              <a:t>resources</a:t>
            </a:r>
            <a:r>
              <a:rPr lang="en-IN" dirty="0"/>
              <a:t> mean in event management.</a:t>
            </a:r>
          </a:p>
          <a:p>
            <a:pPr>
              <a:buNone/>
            </a:pPr>
            <a:r>
              <a:rPr lang="en-IN" dirty="0"/>
              <a:t>Examples:</a:t>
            </a:r>
          </a:p>
          <a:p>
            <a:pPr marL="342900" lvl="0" indent="-342900">
              <a:buFont typeface="Arial" panose="020B0604020202020204" pitchFamily="34" charset="0"/>
              <a:buChar char="•"/>
            </a:pPr>
            <a:r>
              <a:rPr lang="en-IN" dirty="0"/>
              <a:t>Projectors </a:t>
            </a:r>
          </a:p>
          <a:p>
            <a:pPr marL="342900" lvl="0" indent="-342900">
              <a:buFont typeface="Arial" panose="020B0604020202020204" pitchFamily="34" charset="0"/>
              <a:buChar char="•"/>
            </a:pPr>
            <a:r>
              <a:rPr lang="en-IN" dirty="0"/>
              <a:t>Microphones </a:t>
            </a:r>
          </a:p>
          <a:p>
            <a:pPr marL="342900" lvl="0" indent="-342900">
              <a:buFont typeface="Arial" panose="020B0604020202020204" pitchFamily="34" charset="0"/>
              <a:buChar char="•"/>
            </a:pPr>
            <a:r>
              <a:rPr lang="en-IN" dirty="0"/>
              <a:t>Chairs </a:t>
            </a:r>
          </a:p>
          <a:p>
            <a:pPr marL="342900" lvl="0" indent="-342900">
              <a:buFont typeface="Arial" panose="020B0604020202020204" pitchFamily="34" charset="0"/>
              <a:buChar char="•"/>
            </a:pPr>
            <a:r>
              <a:rPr lang="en-IN" dirty="0"/>
              <a:t>Laptops </a:t>
            </a:r>
          </a:p>
          <a:p>
            <a:pPr marL="342900" lvl="0" indent="-342900">
              <a:buFont typeface="Arial" panose="020B0604020202020204" pitchFamily="34" charset="0"/>
              <a:buChar char="•"/>
            </a:pPr>
            <a:r>
              <a:rPr lang="en-IN" dirty="0"/>
              <a:t>Staff </a:t>
            </a:r>
          </a:p>
          <a:p>
            <a:pPr marL="342900" lvl="0" indent="-342900">
              <a:buFont typeface="Arial" panose="020B0604020202020204" pitchFamily="34" charset="0"/>
              <a:buChar char="•"/>
            </a:pPr>
            <a:r>
              <a:rPr lang="en-IN" dirty="0"/>
              <a:t>Security </a:t>
            </a:r>
          </a:p>
          <a:p>
            <a:pPr marL="342900" lvl="0" indent="-342900">
              <a:buFont typeface="Arial" panose="020B0604020202020204" pitchFamily="34" charset="0"/>
              <a:buChar char="•"/>
            </a:pPr>
            <a:r>
              <a:rPr lang="en-IN" dirty="0"/>
              <a:t>Transportation </a:t>
            </a:r>
          </a:p>
          <a:p>
            <a:pPr>
              <a:buNone/>
            </a:pPr>
            <a:r>
              <a:rPr lang="en-IN" dirty="0"/>
              <a:t>The project requires resource allocation based on event requirements and availability</a:t>
            </a:r>
          </a:p>
        </p:txBody>
      </p:sp>
    </p:spTree>
    <p:extLst>
      <p:ext uri="{BB962C8B-B14F-4D97-AF65-F5344CB8AC3E}">
        <p14:creationId xmlns:p14="http://schemas.microsoft.com/office/powerpoint/2010/main" val="107258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B936C5-ECBA-50D2-02F8-0F4418B4EE55}"/>
              </a:ext>
            </a:extLst>
          </p:cNvPr>
          <p:cNvSpPr txBox="1"/>
          <p:nvPr/>
        </p:nvSpPr>
        <p:spPr>
          <a:xfrm>
            <a:off x="3047036" y="2000732"/>
            <a:ext cx="6094070" cy="2862322"/>
          </a:xfrm>
          <a:prstGeom prst="rect">
            <a:avLst/>
          </a:prstGeom>
          <a:noFill/>
        </p:spPr>
        <p:txBody>
          <a:bodyPr wrap="square">
            <a:spAutoFit/>
          </a:bodyPr>
          <a:lstStyle/>
          <a:p>
            <a:pPr>
              <a:buNone/>
            </a:pPr>
            <a:r>
              <a:rPr lang="en-IN" b="1" dirty="0"/>
              <a:t>Resource Management</a:t>
            </a:r>
          </a:p>
          <a:p>
            <a:pPr marL="342900" lvl="0" indent="-342900">
              <a:buFont typeface="Arial" panose="020B0604020202020204" pitchFamily="34" charset="0"/>
              <a:buChar char="•"/>
            </a:pPr>
            <a:r>
              <a:rPr lang="en-IN" dirty="0"/>
              <a:t>Learn: How to manage event resources such as projectors, microphones, chairs, and laptops.</a:t>
            </a:r>
          </a:p>
          <a:p>
            <a:pPr marL="342900" lvl="0" indent="-342900">
              <a:buFont typeface="Arial" panose="020B0604020202020204" pitchFamily="34" charset="0"/>
              <a:buChar char="•"/>
            </a:pPr>
            <a:r>
              <a:rPr lang="en-IN" dirty="0"/>
              <a:t>Topics: Add, view, update, and delete resources.</a:t>
            </a:r>
          </a:p>
          <a:p>
            <a:pPr marL="342900" lvl="0" indent="-342900">
              <a:buFont typeface="Arial" panose="020B0604020202020204" pitchFamily="34" charset="0"/>
              <a:buChar char="•"/>
            </a:pPr>
            <a:r>
              <a:rPr lang="en-IN" dirty="0"/>
              <a:t>Practical Task: Create a resource management page.</a:t>
            </a:r>
          </a:p>
          <a:p>
            <a:pPr marL="342900" lvl="0" indent="-342900">
              <a:buFont typeface="Arial" panose="020B0604020202020204" pitchFamily="34" charset="0"/>
              <a:buChar char="•"/>
            </a:pPr>
            <a:r>
              <a:rPr lang="en-IN" dirty="0"/>
              <a:t>Features: Resource name, quantity, availability, and status.</a:t>
            </a:r>
          </a:p>
          <a:p>
            <a:pPr marL="342900" lvl="0" indent="-342900">
              <a:buFont typeface="Arial" panose="020B0604020202020204" pitchFamily="34" charset="0"/>
              <a:buChar char="•"/>
            </a:pPr>
            <a:r>
              <a:rPr lang="en-IN" dirty="0"/>
              <a:t>Outcome: Allocate resources to events and avoid double booking.</a:t>
            </a:r>
          </a:p>
        </p:txBody>
      </p:sp>
    </p:spTree>
    <p:extLst>
      <p:ext uri="{BB962C8B-B14F-4D97-AF65-F5344CB8AC3E}">
        <p14:creationId xmlns:p14="http://schemas.microsoft.com/office/powerpoint/2010/main" val="1075198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6E4A87-5EEC-9C51-C326-E6C7C4B887A8}"/>
              </a:ext>
            </a:extLst>
          </p:cNvPr>
          <p:cNvSpPr txBox="1"/>
          <p:nvPr/>
        </p:nvSpPr>
        <p:spPr>
          <a:xfrm>
            <a:off x="3047036" y="892737"/>
            <a:ext cx="6094070" cy="5078313"/>
          </a:xfrm>
          <a:prstGeom prst="rect">
            <a:avLst/>
          </a:prstGeom>
          <a:noFill/>
        </p:spPr>
        <p:txBody>
          <a:bodyPr wrap="square">
            <a:spAutoFit/>
          </a:bodyPr>
          <a:lstStyle/>
          <a:p>
            <a:pPr>
              <a:buNone/>
            </a:pPr>
            <a:r>
              <a:rPr lang="en-IN" b="1" dirty="0"/>
              <a:t>Intern Task 3 — Resource Management</a:t>
            </a:r>
          </a:p>
          <a:p>
            <a:pPr>
              <a:buNone/>
            </a:pPr>
            <a:r>
              <a:rPr lang="en-IN" dirty="0"/>
              <a:t>Create a Resource Management module.</a:t>
            </a:r>
          </a:p>
          <a:p>
            <a:pPr>
              <a:buNone/>
            </a:pPr>
            <a:r>
              <a:rPr lang="en-IN" b="1" dirty="0"/>
              <a:t>Resource fields:</a:t>
            </a:r>
            <a:endParaRPr lang="en-IN" dirty="0"/>
          </a:p>
          <a:p>
            <a:pPr rtl="0">
              <a:buNone/>
            </a:pPr>
            <a:r>
              <a:rPr lang="en-IN" dirty="0">
                <a:latin typeface="Courier New" panose="02070309020205020404" pitchFamily="49" charset="0"/>
              </a:rPr>
              <a:t>Resource ID</a:t>
            </a:r>
          </a:p>
          <a:p>
            <a:pPr rtl="0">
              <a:buNone/>
            </a:pPr>
            <a:r>
              <a:rPr lang="en-IN" dirty="0">
                <a:latin typeface="Courier New" panose="02070309020205020404" pitchFamily="49" charset="0"/>
              </a:rPr>
              <a:t>Resource Name</a:t>
            </a:r>
          </a:p>
          <a:p>
            <a:pPr rtl="0">
              <a:buNone/>
            </a:pPr>
            <a:r>
              <a:rPr lang="en-IN" dirty="0">
                <a:latin typeface="Courier New" panose="02070309020205020404" pitchFamily="49" charset="0"/>
              </a:rPr>
              <a:t>Resource Type</a:t>
            </a:r>
          </a:p>
          <a:p>
            <a:pPr rtl="0">
              <a:buNone/>
            </a:pPr>
            <a:r>
              <a:rPr lang="en-IN" dirty="0">
                <a:latin typeface="Courier New" panose="02070309020205020404" pitchFamily="49" charset="0"/>
              </a:rPr>
              <a:t>Quantity</a:t>
            </a:r>
          </a:p>
          <a:p>
            <a:pPr rtl="0">
              <a:buNone/>
            </a:pPr>
            <a:r>
              <a:rPr lang="en-IN" dirty="0">
                <a:latin typeface="Courier New" panose="02070309020205020404" pitchFamily="49" charset="0"/>
              </a:rPr>
              <a:t>Available Quantity</a:t>
            </a:r>
          </a:p>
          <a:p>
            <a:pPr rtl="0">
              <a:buNone/>
            </a:pPr>
            <a:r>
              <a:rPr lang="en-IN" dirty="0">
                <a:latin typeface="Courier New" panose="02070309020205020404" pitchFamily="49" charset="0"/>
              </a:rPr>
              <a:t>Status</a:t>
            </a:r>
          </a:p>
          <a:p>
            <a:pPr>
              <a:buNone/>
            </a:pPr>
            <a:r>
              <a:rPr lang="en-IN" dirty="0"/>
              <a:t>Example:</a:t>
            </a:r>
          </a:p>
          <a:p>
            <a:pPr rtl="0">
              <a:buNone/>
            </a:pPr>
            <a:r>
              <a:rPr lang="en-IN" dirty="0">
                <a:latin typeface="Courier New" panose="02070309020205020404" pitchFamily="49" charset="0"/>
              </a:rPr>
              <a:t>R001 | Projector       | Equipment | 10 | 10 | Available</a:t>
            </a:r>
          </a:p>
          <a:p>
            <a:pPr rtl="0">
              <a:buNone/>
            </a:pPr>
            <a:r>
              <a:rPr lang="en-IN" dirty="0">
                <a:latin typeface="Courier New" panose="02070309020205020404" pitchFamily="49" charset="0"/>
              </a:rPr>
              <a:t>R002 | Microphone      | Equipment | 20 | 15 | Available</a:t>
            </a:r>
          </a:p>
          <a:p>
            <a:pPr rtl="0">
              <a:buNone/>
            </a:pPr>
            <a:r>
              <a:rPr lang="en-IN" dirty="0">
                <a:latin typeface="Courier New" panose="02070309020205020404" pitchFamily="49" charset="0"/>
              </a:rPr>
              <a:t>R003 | Security Staff  | Staff     | 30 | 30 | Available</a:t>
            </a:r>
          </a:p>
          <a:p>
            <a:pPr rtl="0">
              <a:buNone/>
            </a:pPr>
            <a:r>
              <a:rPr lang="en-IN" dirty="0">
                <a:latin typeface="Courier New" panose="02070309020205020404" pitchFamily="49" charset="0"/>
              </a:rPr>
              <a:t>R004 | Bus             | Transport | 5  | 5  | Available</a:t>
            </a:r>
          </a:p>
        </p:txBody>
      </p:sp>
    </p:spTree>
    <p:extLst>
      <p:ext uri="{BB962C8B-B14F-4D97-AF65-F5344CB8AC3E}">
        <p14:creationId xmlns:p14="http://schemas.microsoft.com/office/powerpoint/2010/main" val="599003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CD6464-A681-91C8-BF21-8733B47298CD}"/>
              </a:ext>
            </a:extLst>
          </p:cNvPr>
          <p:cNvSpPr txBox="1"/>
          <p:nvPr/>
        </p:nvSpPr>
        <p:spPr>
          <a:xfrm>
            <a:off x="3047036" y="892737"/>
            <a:ext cx="6094070" cy="5078313"/>
          </a:xfrm>
          <a:prstGeom prst="rect">
            <a:avLst/>
          </a:prstGeom>
          <a:noFill/>
        </p:spPr>
        <p:txBody>
          <a:bodyPr wrap="square">
            <a:spAutoFit/>
          </a:bodyPr>
          <a:lstStyle/>
          <a:p>
            <a:pPr>
              <a:buNone/>
            </a:pPr>
            <a:r>
              <a:rPr lang="en-IN" b="1" dirty="0"/>
              <a:t>Allocation task</a:t>
            </a:r>
          </a:p>
          <a:p>
            <a:pPr>
              <a:buNone/>
            </a:pPr>
            <a:r>
              <a:rPr lang="en-IN" dirty="0"/>
              <a:t>For </a:t>
            </a:r>
            <a:r>
              <a:rPr lang="en-IN" b="1" dirty="0" err="1"/>
              <a:t>TechFest</a:t>
            </a:r>
            <a:r>
              <a:rPr lang="en-IN" b="1" dirty="0"/>
              <a:t> 2026</a:t>
            </a:r>
            <a:r>
              <a:rPr lang="en-IN" dirty="0"/>
              <a:t>, allocate:</a:t>
            </a:r>
          </a:p>
          <a:p>
            <a:pPr rtl="0">
              <a:buNone/>
            </a:pPr>
            <a:r>
              <a:rPr lang="en-IN" dirty="0">
                <a:latin typeface="Courier New" panose="02070309020205020404" pitchFamily="49" charset="0"/>
              </a:rPr>
              <a:t>Projector       → 5</a:t>
            </a:r>
          </a:p>
          <a:p>
            <a:pPr rtl="0">
              <a:buNone/>
            </a:pPr>
            <a:r>
              <a:rPr lang="en-IN" dirty="0">
                <a:latin typeface="Courier New" panose="02070309020205020404" pitchFamily="49" charset="0"/>
              </a:rPr>
              <a:t>Microphone      → 10</a:t>
            </a:r>
          </a:p>
          <a:p>
            <a:pPr rtl="0">
              <a:buNone/>
            </a:pPr>
            <a:r>
              <a:rPr lang="en-IN" dirty="0">
                <a:latin typeface="Courier New" panose="02070309020205020404" pitchFamily="49" charset="0"/>
              </a:rPr>
              <a:t>Security Staff  → 20</a:t>
            </a:r>
          </a:p>
          <a:p>
            <a:pPr rtl="0">
              <a:buNone/>
            </a:pPr>
            <a:r>
              <a:rPr lang="en-IN" dirty="0">
                <a:latin typeface="Courier New" panose="02070309020205020404" pitchFamily="49" charset="0"/>
              </a:rPr>
              <a:t>Bus             → 2</a:t>
            </a:r>
          </a:p>
          <a:p>
            <a:pPr>
              <a:buNone/>
            </a:pPr>
            <a:r>
              <a:rPr lang="en-IN" dirty="0"/>
              <a:t>The system should reduce the available quantity after allocation.</a:t>
            </a:r>
          </a:p>
          <a:p>
            <a:pPr>
              <a:buNone/>
            </a:pPr>
            <a:r>
              <a:rPr lang="en-IN" dirty="0"/>
              <a:t>Example:</a:t>
            </a:r>
          </a:p>
          <a:p>
            <a:pPr rtl="0">
              <a:buNone/>
            </a:pPr>
            <a:r>
              <a:rPr lang="en-IN" dirty="0">
                <a:latin typeface="Courier New" panose="02070309020205020404" pitchFamily="49" charset="0"/>
              </a:rPr>
              <a:t>Before:</a:t>
            </a:r>
          </a:p>
          <a:p>
            <a:pPr rtl="0">
              <a:buNone/>
            </a:pPr>
            <a:r>
              <a:rPr lang="en-IN" dirty="0">
                <a:latin typeface="Courier New" panose="02070309020205020404" pitchFamily="49" charset="0"/>
              </a:rPr>
              <a:t>Projectors = 10 Available</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Allocate 5</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After:</a:t>
            </a:r>
          </a:p>
          <a:p>
            <a:pPr rtl="0">
              <a:buNone/>
            </a:pPr>
            <a:r>
              <a:rPr lang="en-IN" dirty="0">
                <a:latin typeface="Courier New" panose="02070309020205020404" pitchFamily="49" charset="0"/>
              </a:rPr>
              <a:t>Projectors = 5 Available</a:t>
            </a:r>
          </a:p>
          <a:p>
            <a:pPr>
              <a:buNone/>
            </a:pPr>
            <a:r>
              <a:rPr lang="en-IN" b="1" dirty="0"/>
              <a:t>Day 3 Submission:</a:t>
            </a:r>
            <a:br>
              <a:rPr lang="en-IN" dirty="0"/>
            </a:br>
            <a:r>
              <a:rPr lang="en-IN" dirty="0"/>
              <a:t>Resource CRUD + resource allocation functionality.</a:t>
            </a:r>
          </a:p>
        </p:txBody>
      </p:sp>
    </p:spTree>
    <p:extLst>
      <p:ext uri="{BB962C8B-B14F-4D97-AF65-F5344CB8AC3E}">
        <p14:creationId xmlns:p14="http://schemas.microsoft.com/office/powerpoint/2010/main" val="798506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4CB69B-856E-6CD3-625B-32A0E5119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025022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E5FDAC-7C22-DCED-9A2F-DC19825027FE}"/>
              </a:ext>
            </a:extLst>
          </p:cNvPr>
          <p:cNvSpPr txBox="1"/>
          <p:nvPr/>
        </p:nvSpPr>
        <p:spPr>
          <a:xfrm>
            <a:off x="3047036" y="1862233"/>
            <a:ext cx="6094070" cy="3139321"/>
          </a:xfrm>
          <a:prstGeom prst="rect">
            <a:avLst/>
          </a:prstGeom>
          <a:noFill/>
        </p:spPr>
        <p:txBody>
          <a:bodyPr wrap="square">
            <a:spAutoFit/>
          </a:bodyPr>
          <a:lstStyle/>
          <a:p>
            <a:pPr>
              <a:buNone/>
            </a:pPr>
            <a:r>
              <a:rPr lang="en-IN" b="1" dirty="0"/>
              <a:t>Day 4 — Scheduling + Conflict Detection</a:t>
            </a:r>
          </a:p>
          <a:p>
            <a:pPr>
              <a:buNone/>
            </a:pPr>
            <a:r>
              <a:rPr lang="en-IN" dirty="0"/>
              <a:t>This is an important part of Milestone 1 because the project requires </a:t>
            </a:r>
            <a:r>
              <a:rPr lang="en-IN" b="1" dirty="0"/>
              <a:t>venue booking management with conflict detection and scheduling validation</a:t>
            </a:r>
            <a:r>
              <a:rPr lang="en-IN" dirty="0"/>
              <a:t>. </a:t>
            </a:r>
          </a:p>
          <a:p>
            <a:pPr>
              <a:buNone/>
            </a:pPr>
            <a:r>
              <a:rPr lang="en-IN" b="1" dirty="0"/>
              <a:t>Topics to teach</a:t>
            </a:r>
          </a:p>
          <a:p>
            <a:pPr marL="342900" lvl="0" indent="-342900">
              <a:buFont typeface="Arial" panose="020B0604020202020204" pitchFamily="34" charset="0"/>
              <a:buChar char="•"/>
            </a:pPr>
            <a:r>
              <a:rPr lang="en-IN" dirty="0"/>
              <a:t>Event scheduling </a:t>
            </a:r>
          </a:p>
          <a:p>
            <a:pPr marL="342900" lvl="0" indent="-342900">
              <a:buFont typeface="Arial" panose="020B0604020202020204" pitchFamily="34" charset="0"/>
              <a:buChar char="•"/>
            </a:pPr>
            <a:r>
              <a:rPr lang="en-IN" dirty="0"/>
              <a:t>Date and time </a:t>
            </a:r>
          </a:p>
          <a:p>
            <a:pPr marL="342900" lvl="0" indent="-342900">
              <a:buFont typeface="Arial" panose="020B0604020202020204" pitchFamily="34" charset="0"/>
              <a:buChar char="•"/>
            </a:pPr>
            <a:r>
              <a:rPr lang="en-IN" dirty="0"/>
              <a:t>Availability </a:t>
            </a:r>
          </a:p>
          <a:p>
            <a:pPr marL="342900" lvl="0" indent="-342900">
              <a:buFont typeface="Arial" panose="020B0604020202020204" pitchFamily="34" charset="0"/>
              <a:buChar char="•"/>
            </a:pPr>
            <a:r>
              <a:rPr lang="en-IN" dirty="0"/>
              <a:t>Booking conflicts </a:t>
            </a:r>
          </a:p>
          <a:p>
            <a:pPr marL="342900" lvl="0" indent="-342900">
              <a:buFont typeface="Arial" panose="020B0604020202020204" pitchFamily="34" charset="0"/>
              <a:buChar char="•"/>
            </a:pPr>
            <a:r>
              <a:rPr lang="en-IN" dirty="0"/>
              <a:t>Validation logic </a:t>
            </a:r>
          </a:p>
          <a:p>
            <a:pPr marL="342900" lvl="0" indent="-342900">
              <a:buFont typeface="Arial" panose="020B0604020202020204" pitchFamily="34" charset="0"/>
              <a:buChar char="•"/>
            </a:pPr>
            <a:r>
              <a:rPr lang="en-IN" dirty="0"/>
              <a:t>Basic business rules</a:t>
            </a:r>
          </a:p>
        </p:txBody>
      </p:sp>
    </p:spTree>
    <p:extLst>
      <p:ext uri="{BB962C8B-B14F-4D97-AF65-F5344CB8AC3E}">
        <p14:creationId xmlns:p14="http://schemas.microsoft.com/office/powerpoint/2010/main" val="714177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FBD235-69F9-EA00-A132-25B8029253E0}"/>
              </a:ext>
            </a:extLst>
          </p:cNvPr>
          <p:cNvSpPr txBox="1"/>
          <p:nvPr/>
        </p:nvSpPr>
        <p:spPr>
          <a:xfrm>
            <a:off x="3047036" y="107644"/>
            <a:ext cx="6094070" cy="6463308"/>
          </a:xfrm>
          <a:prstGeom prst="rect">
            <a:avLst/>
          </a:prstGeom>
          <a:noFill/>
        </p:spPr>
        <p:txBody>
          <a:bodyPr wrap="square">
            <a:spAutoFit/>
          </a:bodyPr>
          <a:lstStyle/>
          <a:p>
            <a:pPr>
              <a:buNone/>
            </a:pPr>
            <a:r>
              <a:rPr lang="en-IN" b="1" dirty="0"/>
              <a:t>Intern Task 4 — Conflict Detection</a:t>
            </a:r>
          </a:p>
          <a:p>
            <a:pPr>
              <a:buNone/>
            </a:pPr>
            <a:r>
              <a:rPr lang="en-IN" dirty="0"/>
              <a:t>Suppose:</a:t>
            </a:r>
          </a:p>
          <a:p>
            <a:pPr>
              <a:buNone/>
            </a:pPr>
            <a:r>
              <a:rPr lang="en-IN" b="1" dirty="0"/>
              <a:t>Event 1</a:t>
            </a:r>
            <a:endParaRPr lang="en-IN" dirty="0"/>
          </a:p>
          <a:p>
            <a:pPr rtl="0">
              <a:buNone/>
            </a:pPr>
            <a:r>
              <a:rPr lang="en-IN" dirty="0" err="1">
                <a:latin typeface="Courier New" panose="02070309020205020404" pitchFamily="49" charset="0"/>
              </a:rPr>
              <a:t>TechFest</a:t>
            </a:r>
            <a:endParaRPr lang="en-IN" dirty="0">
              <a:latin typeface="Courier New" panose="02070309020205020404" pitchFamily="49" charset="0"/>
            </a:endParaRPr>
          </a:p>
          <a:p>
            <a:pPr rtl="0">
              <a:buNone/>
            </a:pPr>
            <a:r>
              <a:rPr lang="en-IN" dirty="0">
                <a:latin typeface="Courier New" panose="02070309020205020404" pitchFamily="49" charset="0"/>
              </a:rPr>
              <a:t>Venue: Main Auditorium</a:t>
            </a:r>
          </a:p>
          <a:p>
            <a:pPr rtl="0">
              <a:buNone/>
            </a:pPr>
            <a:r>
              <a:rPr lang="en-IN" dirty="0">
                <a:latin typeface="Courier New" panose="02070309020205020404" pitchFamily="49" charset="0"/>
              </a:rPr>
              <a:t>Date: 15-Nov-2026</a:t>
            </a:r>
          </a:p>
          <a:p>
            <a:pPr rtl="0">
              <a:buNone/>
            </a:pPr>
            <a:r>
              <a:rPr lang="en-IN" dirty="0">
                <a:latin typeface="Courier New" panose="02070309020205020404" pitchFamily="49" charset="0"/>
              </a:rPr>
              <a:t>Time: 10 AM – 1 PM</a:t>
            </a:r>
          </a:p>
          <a:p>
            <a:pPr>
              <a:buNone/>
            </a:pPr>
            <a:r>
              <a:rPr lang="en-IN" dirty="0"/>
              <a:t>Now the organizer tries:</a:t>
            </a:r>
          </a:p>
          <a:p>
            <a:pPr>
              <a:buNone/>
            </a:pPr>
            <a:r>
              <a:rPr lang="en-IN" b="1" dirty="0"/>
              <a:t>Event 2</a:t>
            </a:r>
            <a:endParaRPr lang="en-IN" dirty="0"/>
          </a:p>
          <a:p>
            <a:pPr rtl="0">
              <a:buNone/>
            </a:pPr>
            <a:r>
              <a:rPr lang="en-IN" dirty="0">
                <a:latin typeface="Courier New" panose="02070309020205020404" pitchFamily="49" charset="0"/>
              </a:rPr>
              <a:t>AI Conference</a:t>
            </a:r>
          </a:p>
          <a:p>
            <a:pPr rtl="0">
              <a:buNone/>
            </a:pPr>
            <a:r>
              <a:rPr lang="en-IN" dirty="0">
                <a:latin typeface="Courier New" panose="02070309020205020404" pitchFamily="49" charset="0"/>
              </a:rPr>
              <a:t>Venue: Main Auditorium</a:t>
            </a:r>
          </a:p>
          <a:p>
            <a:pPr rtl="0">
              <a:buNone/>
            </a:pPr>
            <a:r>
              <a:rPr lang="en-IN" dirty="0">
                <a:latin typeface="Courier New" panose="02070309020205020404" pitchFamily="49" charset="0"/>
              </a:rPr>
              <a:t>Date: 15-Nov-2026</a:t>
            </a:r>
          </a:p>
          <a:p>
            <a:pPr rtl="0">
              <a:buNone/>
            </a:pPr>
            <a:r>
              <a:rPr lang="en-IN" dirty="0">
                <a:latin typeface="Courier New" panose="02070309020205020404" pitchFamily="49" charset="0"/>
              </a:rPr>
              <a:t>Time: 12 PM – 3 PM</a:t>
            </a:r>
          </a:p>
          <a:p>
            <a:pPr>
              <a:buNone/>
            </a:pPr>
            <a:r>
              <a:rPr lang="en-IN" dirty="0"/>
              <a:t>The system should display:</a:t>
            </a:r>
          </a:p>
          <a:p>
            <a:pPr>
              <a:buNone/>
            </a:pPr>
            <a:r>
              <a:rPr lang="en-IN" dirty="0"/>
              <a:t>❌ Venue Conflict: Main Auditorium is already booked during this time.</a:t>
            </a:r>
          </a:p>
          <a:p>
            <a:pPr>
              <a:buNone/>
            </a:pPr>
            <a:r>
              <a:rPr lang="en-IN" dirty="0"/>
              <a:t>But if:</a:t>
            </a:r>
          </a:p>
          <a:p>
            <a:pPr rtl="0">
              <a:buNone/>
            </a:pPr>
            <a:r>
              <a:rPr lang="en-IN" dirty="0">
                <a:latin typeface="Courier New" panose="02070309020205020404" pitchFamily="49" charset="0"/>
              </a:rPr>
              <a:t>AI Conference</a:t>
            </a:r>
          </a:p>
          <a:p>
            <a:pPr rtl="0">
              <a:buNone/>
            </a:pPr>
            <a:r>
              <a:rPr lang="en-IN" dirty="0">
                <a:latin typeface="Courier New" panose="02070309020205020404" pitchFamily="49" charset="0"/>
              </a:rPr>
              <a:t>Venue: Main Auditorium</a:t>
            </a:r>
          </a:p>
          <a:p>
            <a:pPr rtl="0">
              <a:buNone/>
            </a:pPr>
            <a:r>
              <a:rPr lang="en-IN" dirty="0">
                <a:latin typeface="Courier New" panose="02070309020205020404" pitchFamily="49" charset="0"/>
              </a:rPr>
              <a:t>Date: 16-Nov-2026</a:t>
            </a:r>
          </a:p>
          <a:p>
            <a:pPr rtl="0">
              <a:buNone/>
            </a:pPr>
            <a:r>
              <a:rPr lang="en-IN" dirty="0">
                <a:latin typeface="Courier New" panose="02070309020205020404" pitchFamily="49" charset="0"/>
              </a:rPr>
              <a:t>Time: 10 AM – 1 PM</a:t>
            </a:r>
          </a:p>
          <a:p>
            <a:pPr>
              <a:buNone/>
            </a:pPr>
            <a:r>
              <a:rPr lang="en-IN" dirty="0"/>
              <a:t>Then:</a:t>
            </a:r>
          </a:p>
          <a:p>
            <a:pPr>
              <a:buNone/>
            </a:pPr>
            <a:r>
              <a:rPr lang="en-IN" dirty="0"/>
              <a:t>✅ Venue Available — Booking Confirmed.</a:t>
            </a:r>
          </a:p>
        </p:txBody>
      </p:sp>
    </p:spTree>
    <p:extLst>
      <p:ext uri="{BB962C8B-B14F-4D97-AF65-F5344CB8AC3E}">
        <p14:creationId xmlns:p14="http://schemas.microsoft.com/office/powerpoint/2010/main" val="800505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F96462-7DA3-2448-A4E5-751443279047}"/>
              </a:ext>
            </a:extLst>
          </p:cNvPr>
          <p:cNvSpPr txBox="1"/>
          <p:nvPr/>
        </p:nvSpPr>
        <p:spPr>
          <a:xfrm>
            <a:off x="3047036" y="1202081"/>
            <a:ext cx="6094070" cy="3970318"/>
          </a:xfrm>
          <a:prstGeom prst="rect">
            <a:avLst/>
          </a:prstGeom>
          <a:noFill/>
        </p:spPr>
        <p:txBody>
          <a:bodyPr wrap="square">
            <a:spAutoFit/>
          </a:bodyPr>
          <a:lstStyle/>
          <a:p>
            <a:pPr>
              <a:buNone/>
            </a:pPr>
            <a:r>
              <a:rPr lang="en-IN" b="1" dirty="0"/>
              <a:t>Resource conflict</a:t>
            </a:r>
          </a:p>
          <a:p>
            <a:pPr>
              <a:buNone/>
            </a:pPr>
            <a:r>
              <a:rPr lang="en-IN" dirty="0"/>
              <a:t>Do the same for resources.</a:t>
            </a:r>
          </a:p>
          <a:p>
            <a:pPr>
              <a:buNone/>
            </a:pPr>
            <a:r>
              <a:rPr lang="en-IN" dirty="0"/>
              <a:t>For example:</a:t>
            </a:r>
          </a:p>
          <a:p>
            <a:pPr rtl="0">
              <a:buNone/>
            </a:pPr>
            <a:r>
              <a:rPr lang="en-IN" dirty="0" err="1">
                <a:latin typeface="+mn-lt"/>
              </a:rPr>
              <a:t>TechFest</a:t>
            </a:r>
            <a:r>
              <a:rPr lang="en-IN" dirty="0">
                <a:latin typeface="+mn-lt"/>
              </a:rPr>
              <a:t> → Projector 1</a:t>
            </a:r>
          </a:p>
          <a:p>
            <a:pPr rtl="0">
              <a:buNone/>
            </a:pPr>
            <a:r>
              <a:rPr lang="en-IN" dirty="0">
                <a:latin typeface="+mn-lt"/>
              </a:rPr>
              <a:t>10 AM – 1 PM</a:t>
            </a:r>
          </a:p>
          <a:p>
            <a:pPr>
              <a:buNone/>
            </a:pPr>
            <a:r>
              <a:rPr lang="en-IN" dirty="0"/>
              <a:t>Another event:</a:t>
            </a:r>
          </a:p>
          <a:p>
            <a:pPr rtl="0">
              <a:buNone/>
            </a:pPr>
            <a:r>
              <a:rPr lang="en-IN" dirty="0">
                <a:latin typeface="+mn-lt"/>
              </a:rPr>
              <a:t>Workshop → Projector 1</a:t>
            </a:r>
          </a:p>
          <a:p>
            <a:pPr rtl="0">
              <a:buNone/>
            </a:pPr>
            <a:r>
              <a:rPr lang="en-IN" dirty="0">
                <a:latin typeface="+mn-lt"/>
              </a:rPr>
              <a:t>11 AM – 12 PM</a:t>
            </a:r>
          </a:p>
          <a:p>
            <a:pPr>
              <a:buNone/>
            </a:pPr>
            <a:r>
              <a:rPr lang="en-IN" dirty="0"/>
              <a:t>The system should detect:</a:t>
            </a:r>
          </a:p>
          <a:p>
            <a:pPr>
              <a:buNone/>
            </a:pPr>
            <a:r>
              <a:rPr lang="en-IN" dirty="0"/>
              <a:t>❌ Projector already allocated during this period.</a:t>
            </a:r>
          </a:p>
          <a:p>
            <a:pPr>
              <a:buNone/>
            </a:pPr>
            <a:endParaRPr lang="en-IN" dirty="0"/>
          </a:p>
          <a:p>
            <a:pPr>
              <a:buNone/>
            </a:pPr>
            <a:r>
              <a:rPr lang="en-IN" b="1" dirty="0"/>
              <a:t>Day 4 Submission:</a:t>
            </a:r>
            <a:br>
              <a:rPr lang="en-IN" dirty="0"/>
            </a:br>
            <a:r>
              <a:rPr lang="en-IN" dirty="0"/>
              <a:t>Scheduling module + venue/resource conflict detection.</a:t>
            </a:r>
          </a:p>
        </p:txBody>
      </p:sp>
    </p:spTree>
    <p:extLst>
      <p:ext uri="{BB962C8B-B14F-4D97-AF65-F5344CB8AC3E}">
        <p14:creationId xmlns:p14="http://schemas.microsoft.com/office/powerpoint/2010/main" val="1059944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20EF14-8715-C58C-3083-9D3E3D586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953889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FF4D50-E86C-F9BD-130F-34E7E6147C60}"/>
              </a:ext>
            </a:extLst>
          </p:cNvPr>
          <p:cNvSpPr txBox="1"/>
          <p:nvPr/>
        </p:nvSpPr>
        <p:spPr>
          <a:xfrm>
            <a:off x="3047036" y="2277731"/>
            <a:ext cx="6094070" cy="2308324"/>
          </a:xfrm>
          <a:prstGeom prst="rect">
            <a:avLst/>
          </a:prstGeom>
          <a:noFill/>
        </p:spPr>
        <p:txBody>
          <a:bodyPr wrap="square">
            <a:spAutoFit/>
          </a:bodyPr>
          <a:lstStyle/>
          <a:p>
            <a:pPr>
              <a:buNone/>
            </a:pPr>
            <a:r>
              <a:rPr lang="en-IN" b="1" dirty="0"/>
              <a:t>Day 5 — Integration + Mini Project</a:t>
            </a:r>
          </a:p>
          <a:p>
            <a:pPr>
              <a:buNone/>
            </a:pPr>
            <a:r>
              <a:rPr lang="en-IN" dirty="0"/>
              <a:t>Day 5 should be an </a:t>
            </a:r>
            <a:r>
              <a:rPr lang="en-IN" b="1" dirty="0"/>
              <a:t>intern assignment day</a:t>
            </a:r>
            <a:r>
              <a:rPr lang="en-IN" dirty="0"/>
              <a:t>, rather than introducing a lot of new concepts.</a:t>
            </a:r>
          </a:p>
          <a:p>
            <a:pPr>
              <a:buNone/>
            </a:pPr>
            <a:r>
              <a:rPr lang="en-IN" b="1" dirty="0"/>
              <a:t>Final Task — Build a Mini Event Management System</a:t>
            </a:r>
          </a:p>
          <a:p>
            <a:pPr>
              <a:buNone/>
            </a:pPr>
            <a:r>
              <a:rPr lang="en-IN" dirty="0"/>
              <a:t>Give them this requirement:</a:t>
            </a:r>
          </a:p>
          <a:p>
            <a:pPr>
              <a:buNone/>
            </a:pPr>
            <a:r>
              <a:rPr lang="en-IN" b="1" dirty="0"/>
              <a:t>Build a basic event management system for a college technical event using everything learned during Days 1–4.</a:t>
            </a:r>
            <a:endParaRPr lang="en-IN" dirty="0"/>
          </a:p>
        </p:txBody>
      </p:sp>
    </p:spTree>
    <p:extLst>
      <p:ext uri="{BB962C8B-B14F-4D97-AF65-F5344CB8AC3E}">
        <p14:creationId xmlns:p14="http://schemas.microsoft.com/office/powerpoint/2010/main" val="269063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4885BE-2584-FAE7-DCF6-AABE4A5A5F07}"/>
              </a:ext>
            </a:extLst>
          </p:cNvPr>
          <p:cNvSpPr txBox="1"/>
          <p:nvPr/>
        </p:nvSpPr>
        <p:spPr>
          <a:xfrm>
            <a:off x="3047036" y="477238"/>
            <a:ext cx="6094070" cy="5909310"/>
          </a:xfrm>
          <a:prstGeom prst="rect">
            <a:avLst/>
          </a:prstGeom>
          <a:noFill/>
        </p:spPr>
        <p:txBody>
          <a:bodyPr wrap="square">
            <a:spAutoFit/>
          </a:bodyPr>
          <a:lstStyle/>
          <a:p>
            <a:r>
              <a:rPr lang="en-IN" dirty="0"/>
              <a:t>Login</a:t>
            </a:r>
          </a:p>
          <a:p>
            <a:r>
              <a:rPr lang="en-IN" dirty="0"/>
              <a:t>  ↓</a:t>
            </a:r>
          </a:p>
          <a:p>
            <a:r>
              <a:rPr lang="en-IN" dirty="0"/>
              <a:t>Dashboard</a:t>
            </a:r>
          </a:p>
          <a:p>
            <a:r>
              <a:rPr lang="en-IN" dirty="0"/>
              <a:t>  ↓</a:t>
            </a:r>
          </a:p>
          <a:p>
            <a:r>
              <a:rPr lang="en-IN" dirty="0"/>
              <a:t>Create Event</a:t>
            </a:r>
          </a:p>
          <a:p>
            <a:r>
              <a:rPr lang="en-IN" dirty="0"/>
              <a:t>  ↓</a:t>
            </a:r>
          </a:p>
          <a:p>
            <a:r>
              <a:rPr lang="en-IN" dirty="0"/>
              <a:t>Select Venue</a:t>
            </a:r>
          </a:p>
          <a:p>
            <a:r>
              <a:rPr lang="en-IN" dirty="0"/>
              <a:t>  ↓</a:t>
            </a:r>
          </a:p>
          <a:p>
            <a:r>
              <a:rPr lang="en-IN" dirty="0"/>
              <a:t>Check Capacity</a:t>
            </a:r>
          </a:p>
          <a:p>
            <a:r>
              <a:rPr lang="en-IN" dirty="0"/>
              <a:t>  ↓</a:t>
            </a:r>
          </a:p>
          <a:p>
            <a:r>
              <a:rPr lang="en-IN" dirty="0"/>
              <a:t>Schedule Event</a:t>
            </a:r>
          </a:p>
          <a:p>
            <a:r>
              <a:rPr lang="en-IN" dirty="0"/>
              <a:t>  ↓</a:t>
            </a:r>
          </a:p>
          <a:p>
            <a:r>
              <a:rPr lang="en-IN" dirty="0"/>
              <a:t>Check Venue Conflict</a:t>
            </a:r>
          </a:p>
          <a:p>
            <a:r>
              <a:rPr lang="en-IN" dirty="0"/>
              <a:t>  ↓</a:t>
            </a:r>
          </a:p>
          <a:p>
            <a:r>
              <a:rPr lang="en-IN" dirty="0"/>
              <a:t>Allocate Resources</a:t>
            </a:r>
          </a:p>
          <a:p>
            <a:r>
              <a:rPr lang="en-IN" dirty="0"/>
              <a:t>  ↓</a:t>
            </a:r>
          </a:p>
          <a:p>
            <a:r>
              <a:rPr lang="en-IN" dirty="0"/>
              <a:t>Check Resource Availability</a:t>
            </a:r>
          </a:p>
          <a:p>
            <a:r>
              <a:rPr lang="en-IN" dirty="0"/>
              <a:t>  ↓</a:t>
            </a:r>
          </a:p>
          <a:p>
            <a:r>
              <a:rPr lang="en-IN" dirty="0"/>
              <a:t>Confirm Event</a:t>
            </a:r>
          </a:p>
          <a:p>
            <a:r>
              <a:rPr lang="en-IN" dirty="0"/>
              <a:t>  ↓</a:t>
            </a:r>
          </a:p>
          <a:p>
            <a:r>
              <a:rPr lang="en-IN" dirty="0"/>
              <a:t>Display Event Details</a:t>
            </a:r>
          </a:p>
        </p:txBody>
      </p:sp>
    </p:spTree>
    <p:extLst>
      <p:ext uri="{BB962C8B-B14F-4D97-AF65-F5344CB8AC3E}">
        <p14:creationId xmlns:p14="http://schemas.microsoft.com/office/powerpoint/2010/main" val="1481960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3673A6-DF42-5289-0645-FFA9306996A7}"/>
              </a:ext>
            </a:extLst>
          </p:cNvPr>
          <p:cNvSpPr txBox="1"/>
          <p:nvPr/>
        </p:nvSpPr>
        <p:spPr>
          <a:xfrm>
            <a:off x="3047036" y="1169736"/>
            <a:ext cx="6094070" cy="4524315"/>
          </a:xfrm>
          <a:prstGeom prst="rect">
            <a:avLst/>
          </a:prstGeom>
          <a:noFill/>
        </p:spPr>
        <p:txBody>
          <a:bodyPr wrap="square">
            <a:spAutoFit/>
          </a:bodyPr>
          <a:lstStyle/>
          <a:p>
            <a:pPr>
              <a:buNone/>
            </a:pPr>
            <a:r>
              <a:rPr lang="en-IN" b="1" dirty="0"/>
              <a:t>Minimum features</a:t>
            </a:r>
          </a:p>
          <a:p>
            <a:pPr>
              <a:buNone/>
            </a:pPr>
            <a:r>
              <a:rPr lang="en-IN" b="1" dirty="0"/>
              <a:t>1. Event Management</a:t>
            </a:r>
            <a:endParaRPr lang="en-IN" dirty="0"/>
          </a:p>
          <a:p>
            <a:pPr marL="342900" lvl="0" indent="-342900">
              <a:buFont typeface="Arial" panose="020B0604020202020204" pitchFamily="34" charset="0"/>
              <a:buChar char="•"/>
            </a:pPr>
            <a:r>
              <a:rPr lang="en-IN" dirty="0"/>
              <a:t>Create</a:t>
            </a:r>
          </a:p>
          <a:p>
            <a:pPr marL="342900" lvl="0" indent="-342900">
              <a:buFont typeface="Arial" panose="020B0604020202020204" pitchFamily="34" charset="0"/>
              <a:buChar char="•"/>
            </a:pPr>
            <a:r>
              <a:rPr lang="en-IN" dirty="0"/>
              <a:t>Read</a:t>
            </a:r>
          </a:p>
          <a:p>
            <a:pPr marL="342900" lvl="0" indent="-342900">
              <a:buFont typeface="Arial" panose="020B0604020202020204" pitchFamily="34" charset="0"/>
              <a:buChar char="•"/>
            </a:pPr>
            <a:r>
              <a:rPr lang="en-IN" dirty="0"/>
              <a:t>Update</a:t>
            </a:r>
          </a:p>
          <a:p>
            <a:pPr marL="342900" lvl="0" indent="-342900">
              <a:buFont typeface="Arial" panose="020B0604020202020204" pitchFamily="34" charset="0"/>
              <a:buChar char="•"/>
            </a:pPr>
            <a:r>
              <a:rPr lang="en-IN" dirty="0"/>
              <a:t>Delete</a:t>
            </a:r>
          </a:p>
          <a:p>
            <a:pPr>
              <a:buNone/>
            </a:pPr>
            <a:r>
              <a:rPr lang="en-IN" b="1" dirty="0"/>
              <a:t>2. Venue Management</a:t>
            </a:r>
            <a:endParaRPr lang="en-IN" dirty="0"/>
          </a:p>
          <a:p>
            <a:pPr marL="342900" lvl="0" indent="-342900">
              <a:buFont typeface="Arial" panose="020B0604020202020204" pitchFamily="34" charset="0"/>
              <a:buChar char="•"/>
            </a:pPr>
            <a:r>
              <a:rPr lang="en-IN" dirty="0"/>
              <a:t>Add venue</a:t>
            </a:r>
          </a:p>
          <a:p>
            <a:pPr marL="342900" lvl="0" indent="-342900">
              <a:buFont typeface="Arial" panose="020B0604020202020204" pitchFamily="34" charset="0"/>
              <a:buChar char="•"/>
            </a:pPr>
            <a:r>
              <a:rPr lang="en-IN" dirty="0"/>
              <a:t>View venues</a:t>
            </a:r>
          </a:p>
          <a:p>
            <a:pPr marL="342900" lvl="0" indent="-342900">
              <a:buFont typeface="Arial" panose="020B0604020202020204" pitchFamily="34" charset="0"/>
              <a:buChar char="•"/>
            </a:pPr>
            <a:r>
              <a:rPr lang="en-IN" dirty="0"/>
              <a:t>Check availability</a:t>
            </a:r>
          </a:p>
          <a:p>
            <a:pPr marL="342900" lvl="0" indent="-342900">
              <a:buFont typeface="Arial" panose="020B0604020202020204" pitchFamily="34" charset="0"/>
              <a:buChar char="•"/>
            </a:pPr>
            <a:r>
              <a:rPr lang="en-IN" dirty="0"/>
              <a:t>Assign venue</a:t>
            </a:r>
          </a:p>
          <a:p>
            <a:pPr>
              <a:buNone/>
            </a:pPr>
            <a:r>
              <a:rPr lang="en-IN" b="1" dirty="0"/>
              <a:t>3. Resource Management</a:t>
            </a:r>
            <a:endParaRPr lang="en-IN" dirty="0"/>
          </a:p>
          <a:p>
            <a:pPr marL="342900" lvl="0" indent="-342900">
              <a:buFont typeface="Arial" panose="020B0604020202020204" pitchFamily="34" charset="0"/>
              <a:buChar char="•"/>
            </a:pPr>
            <a:r>
              <a:rPr lang="en-IN" dirty="0"/>
              <a:t>Add resources</a:t>
            </a:r>
          </a:p>
          <a:p>
            <a:pPr marL="342900" lvl="0" indent="-342900">
              <a:buFont typeface="Arial" panose="020B0604020202020204" pitchFamily="34" charset="0"/>
              <a:buChar char="•"/>
            </a:pPr>
            <a:r>
              <a:rPr lang="en-IN" dirty="0"/>
              <a:t>View resources</a:t>
            </a:r>
          </a:p>
          <a:p>
            <a:pPr marL="342900" lvl="0" indent="-342900">
              <a:buFont typeface="Arial" panose="020B0604020202020204" pitchFamily="34" charset="0"/>
              <a:buChar char="•"/>
            </a:pPr>
            <a:r>
              <a:rPr lang="en-IN" dirty="0"/>
              <a:t>Allocate resources</a:t>
            </a:r>
          </a:p>
          <a:p>
            <a:pPr marL="342900" lvl="0" indent="-342900">
              <a:buFont typeface="Arial" panose="020B0604020202020204" pitchFamily="34" charset="0"/>
              <a:buChar char="•"/>
            </a:pPr>
            <a:r>
              <a:rPr lang="en-IN" dirty="0"/>
              <a:t>Check availability</a:t>
            </a:r>
          </a:p>
        </p:txBody>
      </p:sp>
    </p:spTree>
    <p:extLst>
      <p:ext uri="{BB962C8B-B14F-4D97-AF65-F5344CB8AC3E}">
        <p14:creationId xmlns:p14="http://schemas.microsoft.com/office/powerpoint/2010/main" val="2284568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FD89FA-CDC5-B207-1880-6C06FA5DD248}"/>
              </a:ext>
            </a:extLst>
          </p:cNvPr>
          <p:cNvSpPr txBox="1"/>
          <p:nvPr/>
        </p:nvSpPr>
        <p:spPr>
          <a:xfrm>
            <a:off x="3047036" y="2000732"/>
            <a:ext cx="6094070" cy="2862322"/>
          </a:xfrm>
          <a:prstGeom prst="rect">
            <a:avLst/>
          </a:prstGeom>
          <a:noFill/>
        </p:spPr>
        <p:txBody>
          <a:bodyPr wrap="square">
            <a:spAutoFit/>
          </a:bodyPr>
          <a:lstStyle/>
          <a:p>
            <a:pPr>
              <a:buNone/>
            </a:pPr>
            <a:r>
              <a:rPr lang="en-IN" b="1" dirty="0"/>
              <a:t>4. Scheduling</a:t>
            </a:r>
            <a:endParaRPr lang="en-IN" dirty="0"/>
          </a:p>
          <a:p>
            <a:pPr marL="342900" lvl="0" indent="-342900">
              <a:buFont typeface="Arial" panose="020B0604020202020204" pitchFamily="34" charset="0"/>
              <a:buChar char="•"/>
            </a:pPr>
            <a:r>
              <a:rPr lang="en-IN" dirty="0"/>
              <a:t>Date/time selection</a:t>
            </a:r>
          </a:p>
          <a:p>
            <a:pPr marL="342900" lvl="0" indent="-342900">
              <a:buFont typeface="Arial" panose="020B0604020202020204" pitchFamily="34" charset="0"/>
              <a:buChar char="•"/>
            </a:pPr>
            <a:r>
              <a:rPr lang="en-IN" dirty="0"/>
              <a:t>Venue conflict detection</a:t>
            </a:r>
          </a:p>
          <a:p>
            <a:pPr marL="342900" lvl="0" indent="-342900">
              <a:buFont typeface="Arial" panose="020B0604020202020204" pitchFamily="34" charset="0"/>
              <a:buChar char="•"/>
            </a:pPr>
            <a:r>
              <a:rPr lang="en-IN" dirty="0"/>
              <a:t>Resource conflict detection</a:t>
            </a:r>
          </a:p>
          <a:p>
            <a:pPr>
              <a:buNone/>
            </a:pPr>
            <a:r>
              <a:rPr lang="en-IN" b="1" dirty="0"/>
              <a:t>5. Dashboard</a:t>
            </a:r>
            <a:endParaRPr lang="en-IN" dirty="0"/>
          </a:p>
          <a:p>
            <a:pPr>
              <a:buNone/>
            </a:pPr>
            <a:r>
              <a:rPr lang="en-IN" dirty="0"/>
              <a:t>Display:</a:t>
            </a:r>
          </a:p>
          <a:p>
            <a:pPr rtl="0">
              <a:buNone/>
            </a:pPr>
            <a:r>
              <a:rPr lang="en-IN" dirty="0">
                <a:latin typeface="+mn-lt"/>
              </a:rPr>
              <a:t>Total Events:       5</a:t>
            </a:r>
          </a:p>
          <a:p>
            <a:pPr rtl="0">
              <a:buNone/>
            </a:pPr>
            <a:r>
              <a:rPr lang="en-IN" dirty="0">
                <a:latin typeface="+mn-lt"/>
              </a:rPr>
              <a:t>Upcoming Events:    3</a:t>
            </a:r>
          </a:p>
          <a:p>
            <a:pPr rtl="0">
              <a:buNone/>
            </a:pPr>
            <a:r>
              <a:rPr lang="en-IN" dirty="0">
                <a:latin typeface="+mn-lt"/>
              </a:rPr>
              <a:t>Available Venues:   4</a:t>
            </a:r>
          </a:p>
          <a:p>
            <a:pPr rtl="0">
              <a:buNone/>
            </a:pPr>
            <a:r>
              <a:rPr lang="en-IN" dirty="0">
                <a:latin typeface="+mn-lt"/>
              </a:rPr>
              <a:t>Resources:          25</a:t>
            </a:r>
            <a:endParaRPr lang="en-IN" dirty="0">
              <a:latin typeface="Courier New" panose="02070309020205020404" pitchFamily="49" charset="0"/>
            </a:endParaRPr>
          </a:p>
        </p:txBody>
      </p:sp>
    </p:spTree>
    <p:extLst>
      <p:ext uri="{BB962C8B-B14F-4D97-AF65-F5344CB8AC3E}">
        <p14:creationId xmlns:p14="http://schemas.microsoft.com/office/powerpoint/2010/main" val="3139851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09331-3671-34DF-6841-E1D1871161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070219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73A04E-F5A8-FC1B-DC84-D9209E9DC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807924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EF2B9A-C3D9-5EB2-0779-1019BA8E33E0}"/>
              </a:ext>
            </a:extLst>
          </p:cNvPr>
          <p:cNvSpPr txBox="1"/>
          <p:nvPr/>
        </p:nvSpPr>
        <p:spPr>
          <a:xfrm>
            <a:off x="3047036" y="892737"/>
            <a:ext cx="6094070" cy="5078313"/>
          </a:xfrm>
          <a:prstGeom prst="rect">
            <a:avLst/>
          </a:prstGeom>
          <a:noFill/>
        </p:spPr>
        <p:txBody>
          <a:bodyPr wrap="square">
            <a:spAutoFit/>
          </a:bodyPr>
          <a:lstStyle/>
          <a:p>
            <a:pPr>
              <a:buNone/>
            </a:pPr>
            <a:r>
              <a:rPr lang="en-IN" b="1"/>
              <a:t>EventSphere</a:t>
            </a:r>
            <a:r>
              <a:rPr lang="en-IN" b="1" dirty="0"/>
              <a:t> — Milestone 1 Deliverables</a:t>
            </a:r>
          </a:p>
          <a:p>
            <a:pPr>
              <a:buNone/>
            </a:pPr>
            <a:r>
              <a:rPr lang="en-IN" dirty="0"/>
              <a:t>Milestone 1: Event Planning &amp; Resource Foundation</a:t>
            </a:r>
          </a:p>
          <a:p>
            <a:pPr marL="342900" lvl="0" indent="-342900">
              <a:buFont typeface="+mj-lt"/>
              <a:buAutoNum type="arabicPeriod"/>
            </a:pPr>
            <a:r>
              <a:rPr lang="en-IN" dirty="0"/>
              <a:t>Event Management Module — Create, view, edit, and delete events.</a:t>
            </a:r>
          </a:p>
          <a:p>
            <a:pPr marL="342900" lvl="0" indent="-342900">
              <a:buFont typeface="+mj-lt"/>
              <a:buAutoNum type="arabicPeriod"/>
            </a:pPr>
            <a:r>
              <a:rPr lang="en-IN" dirty="0"/>
              <a:t>Database Design — Create tables for events, venues, resources, and attendees.</a:t>
            </a:r>
          </a:p>
          <a:p>
            <a:pPr marL="342900" lvl="0" indent="-342900">
              <a:buFont typeface="+mj-lt"/>
              <a:buAutoNum type="arabicPeriod"/>
            </a:pPr>
            <a:r>
              <a:rPr lang="en-IN" dirty="0"/>
              <a:t>Venue Management — Add venues and manage their capacity and availability.</a:t>
            </a:r>
          </a:p>
          <a:p>
            <a:pPr marL="342900" lvl="0" indent="-342900">
              <a:buFont typeface="+mj-lt"/>
              <a:buAutoNum type="arabicPeriod"/>
            </a:pPr>
            <a:r>
              <a:rPr lang="en-IN" dirty="0"/>
              <a:t>Resource Management — Track resources, quantities, and availability.</a:t>
            </a:r>
          </a:p>
          <a:p>
            <a:pPr marL="342900" lvl="0" indent="-342900">
              <a:buFont typeface="+mj-lt"/>
              <a:buAutoNum type="arabicPeriod"/>
            </a:pPr>
            <a:r>
              <a:rPr lang="en-IN" dirty="0"/>
              <a:t>Event Scheduling — Schedule events by date and venue.</a:t>
            </a:r>
          </a:p>
          <a:p>
            <a:pPr marL="342900" lvl="0" indent="-342900">
              <a:buFont typeface="+mj-lt"/>
              <a:buAutoNum type="arabicPeriod"/>
            </a:pPr>
            <a:r>
              <a:rPr lang="en-IN" dirty="0"/>
              <a:t>Conflict Detection — Prevent venue double-booking and scheduling conflicts.</a:t>
            </a:r>
          </a:p>
          <a:p>
            <a:pPr marL="342900" lvl="0" indent="-342900">
              <a:buFont typeface="+mj-lt"/>
              <a:buAutoNum type="arabicPeriod"/>
            </a:pPr>
            <a:r>
              <a:rPr lang="en-IN" dirty="0"/>
              <a:t>Basic Reports — Display event details, schedules, and resource availability.</a:t>
            </a:r>
          </a:p>
          <a:p>
            <a:pPr marL="342900" lvl="0" indent="-342900">
              <a:buFont typeface="+mj-lt"/>
              <a:buAutoNum type="arabicPeriod"/>
            </a:pPr>
            <a:r>
              <a:rPr lang="en-IN" dirty="0"/>
              <a:t>Testing &amp; Documentation — Test the modules and document the project.</a:t>
            </a:r>
          </a:p>
        </p:txBody>
      </p:sp>
    </p:spTree>
    <p:extLst>
      <p:ext uri="{BB962C8B-B14F-4D97-AF65-F5344CB8AC3E}">
        <p14:creationId xmlns:p14="http://schemas.microsoft.com/office/powerpoint/2010/main" val="3921016276"/>
      </p:ext>
    </p:extLst>
  </p:cSld>
  <p:clrMapOvr>
    <a:masterClrMapping/>
  </p:clrMapOvr>
</p:sld>
</file>

<file path=ppt/theme/theme1.xml><?xml version="1.0" encoding="utf-8"?>
<a:theme xmlns:a="http://schemas.openxmlformats.org/drawingml/2006/main" name="Bjorn">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docProps/app.xml><?xml version="1.0" encoding="utf-8"?>
<Properties xmlns="http://schemas.openxmlformats.org/officeDocument/2006/extended-properties" xmlns:vt="http://schemas.openxmlformats.org/officeDocument/2006/docPropsVTypes">
  <Template>Bjorn</Template>
  <TotalTime>114</TotalTime>
  <Words>1540</Words>
  <Application>Microsoft Office PowerPoint</Application>
  <PresentationFormat>Widescreen</PresentationFormat>
  <Paragraphs>242</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Courier New</vt:lpstr>
      <vt:lpstr>Neue Haas Grotesk Text Pro</vt:lpstr>
      <vt:lpstr>System Font Regular</vt:lpstr>
      <vt:lpstr>Bjorn</vt:lpstr>
      <vt:lpstr>Smart Event Planning &amp; Resource Management System</vt:lpstr>
      <vt:lpstr>PowerPoint Presentation</vt:lpstr>
      <vt:lpstr>PowerPoint Presentation</vt:lpstr>
      <vt:lpstr>PowerPoint Presentation</vt:lpstr>
      <vt:lpstr>PowerPoint Presentation</vt:lpstr>
      <vt:lpstr>PowerPoint Presentation</vt:lpstr>
      <vt:lpstr>PowerPoint Presentation</vt:lpstr>
      <vt:lpstr>Milestone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Yuvaraj</dc:creator>
  <cp:lastModifiedBy>Pavithra Yuvaraj</cp:lastModifiedBy>
  <cp:revision>4</cp:revision>
  <dcterms:created xsi:type="dcterms:W3CDTF">2026-10-08T03:15:27Z</dcterms:created>
  <dcterms:modified xsi:type="dcterms:W3CDTF">2026-10-10T08:35:47Z</dcterms:modified>
</cp:coreProperties>
</file>